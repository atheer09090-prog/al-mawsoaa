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.xml"/><Relationship Id="rId4" Type="http://schemas.openxmlformats.org/officeDocument/2006/relationships/slide" Target="slide10.xml"/><Relationship Id="rId5" Type="http://schemas.openxmlformats.org/officeDocument/2006/relationships/slide" Target="slide13.xml"/><Relationship Id="rId6" Type="http://schemas.openxmlformats.org/officeDocument/2006/relationships/slide" Target="slide16.xml"/><Relationship Id="rId7" Type="http://schemas.openxmlformats.org/officeDocument/2006/relationships/slide" Target="slide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Relationship Id="rId3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.xml"/><Relationship Id="rId3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Relationship Id="rId3" Type="http://schemas.openxmlformats.org/officeDocument/2006/relationships/slide" Target="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362102" cy="201168"/>
          </a:xfrm>
          <a:prstGeom prst="ellipse">
            <a:avLst/>
          </a:prstGeom>
          <a:solidFill>
            <a:srgbClr val="B8C7A8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1320000">
            <a:off x="685800" y="603504"/>
            <a:ext cx="362102" cy="201168"/>
          </a:xfrm>
          <a:prstGeom prst="ellipse">
            <a:avLst/>
          </a:prstGeom>
          <a:solidFill>
            <a:srgbClr val="B8C7A8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640000">
            <a:off x="914400" y="749808"/>
            <a:ext cx="362102" cy="201168"/>
          </a:xfrm>
          <a:prstGeom prst="ellipse">
            <a:avLst/>
          </a:prstGeom>
          <a:solidFill>
            <a:srgbClr val="B8C7A8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3960000">
            <a:off x="1143000" y="457200"/>
            <a:ext cx="362102" cy="201168"/>
          </a:xfrm>
          <a:prstGeom prst="ellipse">
            <a:avLst/>
          </a:prstGeom>
          <a:solidFill>
            <a:srgbClr val="B8C7A8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5280000">
            <a:off x="1371600" y="603504"/>
            <a:ext cx="362102" cy="201168"/>
          </a:xfrm>
          <a:prstGeom prst="ellipse">
            <a:avLst/>
          </a:prstGeom>
          <a:solidFill>
            <a:srgbClr val="B8C7A8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6600000">
            <a:off x="1600200" y="749808"/>
            <a:ext cx="362102" cy="201168"/>
          </a:xfrm>
          <a:prstGeom prst="ellipse">
            <a:avLst/>
          </a:prstGeom>
          <a:solidFill>
            <a:srgbClr val="B8C7A8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7920000">
            <a:off x="1828800" y="457200"/>
            <a:ext cx="362102" cy="201168"/>
          </a:xfrm>
          <a:prstGeom prst="ellipse">
            <a:avLst/>
          </a:prstGeom>
          <a:solidFill>
            <a:srgbClr val="B8C7A8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9240000">
            <a:off x="2057400" y="603504"/>
            <a:ext cx="362102" cy="201168"/>
          </a:xfrm>
          <a:prstGeom prst="ellipse">
            <a:avLst/>
          </a:prstGeom>
          <a:solidFill>
            <a:srgbClr val="B8C7A8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10560000">
            <a:off x="2286000" y="749808"/>
            <a:ext cx="362102" cy="201168"/>
          </a:xfrm>
          <a:prstGeom prst="ellipse">
            <a:avLst/>
          </a:prstGeom>
          <a:solidFill>
            <a:srgbClr val="B8C7A8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4080" y="5303520"/>
            <a:ext cx="362102" cy="201168"/>
          </a:xfrm>
          <a:prstGeom prst="ellipse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20520000">
            <a:off x="9985248" y="5440680"/>
            <a:ext cx="362102" cy="201168"/>
          </a:xfrm>
          <a:prstGeom prst="ellipse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19440000">
            <a:off x="10186415" y="5577840"/>
            <a:ext cx="362102" cy="201168"/>
          </a:xfrm>
          <a:prstGeom prst="ellipse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8360000">
            <a:off x="10387584" y="5303520"/>
            <a:ext cx="362102" cy="201168"/>
          </a:xfrm>
          <a:prstGeom prst="ellipse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17280000">
            <a:off x="10588752" y="5440680"/>
            <a:ext cx="362102" cy="201168"/>
          </a:xfrm>
          <a:prstGeom prst="ellipse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16200000">
            <a:off x="10789919" y="5577840"/>
            <a:ext cx="362102" cy="201168"/>
          </a:xfrm>
          <a:prstGeom prst="ellipse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15120000">
            <a:off x="10991088" y="5303520"/>
            <a:ext cx="362102" cy="201168"/>
          </a:xfrm>
          <a:prstGeom prst="ellipse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14040000">
            <a:off x="11192255" y="5440680"/>
            <a:ext cx="362102" cy="201168"/>
          </a:xfrm>
          <a:prstGeom prst="ellipse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12960000">
            <a:off x="11393424" y="5577840"/>
            <a:ext cx="362102" cy="201168"/>
          </a:xfrm>
          <a:prstGeom prst="ellipse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1325880"/>
            <a:ext cx="10332720" cy="9144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3400" b="1">
                <a:solidFill>
                  <a:srgbClr val="FFFDF6"/>
                </a:solidFill>
                <a:latin typeface="Arial"/>
              </a:defRPr>
            </a:pPr>
            <a:r>
              <a:t>مغامرة النبات العُماني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267712"/>
            <a:ext cx="1014984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900" b="0">
                <a:solidFill>
                  <a:srgbClr val="B8C7A8"/>
                </a:solidFill>
                <a:latin typeface="Arial"/>
              </a:defRPr>
            </a:pPr>
            <a:r>
              <a:t>لعبة تفاعلية لاكتشاف البيئات والنباتات في سلطنة عُمان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063240"/>
            <a:ext cx="6263640" cy="1143000"/>
          </a:xfrm>
          <a:prstGeom prst="roundRect">
            <a:avLst/>
          </a:prstGeom>
          <a:solidFill>
            <a:srgbClr val="335643"/>
          </a:solidFill>
          <a:ln>
            <a:solidFill>
              <a:srgbClr val="33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3246120"/>
            <a:ext cx="5897880" cy="7315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200" b="1">
                <a:solidFill>
                  <a:srgbClr val="FFFDF6"/>
                </a:solidFill>
                <a:latin typeface="Arial"/>
              </a:defRPr>
            </a:pPr>
            <a:r>
              <a:t>هل أنتِ مستعدة لاجتياز محطات التحدّي؟</a:t>
            </a:r>
          </a:p>
        </p:txBody>
      </p:sp>
      <p:sp>
        <p:nvSpPr>
          <p:cNvPr id="24" name="Rounded Rectangle 23">
            <a:hlinkClick action="ppaction://hlinksldjump" r:id="rId2"/>
          </p:cNvPr>
          <p:cNvSpPr/>
          <p:nvPr/>
        </p:nvSpPr>
        <p:spPr>
          <a:xfrm>
            <a:off x="4160520" y="4617720"/>
            <a:ext cx="3840480" cy="685800"/>
          </a:xfrm>
          <a:prstGeom prst="roundRect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900" b="1">
                <a:solidFill>
                  <a:srgbClr val="264335"/>
                </a:solidFill>
                <a:latin typeface="Arial"/>
              </a:defRPr>
            </a:pPr>
            <a:r>
              <a:t>ابدئي المغامرة  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كيف نلعب؟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اختاري الإجابة الصحيحة في كل محطة، ثم تحققي من إجابتك.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800600" cy="105156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74920" y="1828800"/>
            <a:ext cx="41148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500" b="1">
                <a:solidFill>
                  <a:srgbClr val="CCA359"/>
                </a:solidFill>
                <a:latin typeface="Arial"/>
              </a:defRPr>
            </a:pPr>
            <a:r>
              <a:t>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3749039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700" b="1">
                <a:solidFill>
                  <a:srgbClr val="264335"/>
                </a:solidFill>
                <a:latin typeface="Arial"/>
              </a:defRPr>
            </a:pPr>
            <a:r>
              <a:t>اقرئي السؤال جيدًا.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4800600" cy="105156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78440" y="1828800"/>
            <a:ext cx="41148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500" b="1">
                <a:solidFill>
                  <a:srgbClr val="CCA359"/>
                </a:solidFill>
                <a:latin typeface="Arial"/>
              </a:defRPr>
            </a:pPr>
            <a:r>
              <a:t>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10512"/>
            <a:ext cx="3749039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700" b="1">
                <a:solidFill>
                  <a:srgbClr val="264335"/>
                </a:solidFill>
                <a:latin typeface="Arial"/>
              </a:defRPr>
            </a:pPr>
            <a:r>
              <a:t>اختاري أحد الخيارات بالضغط عليه.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54680"/>
            <a:ext cx="4800600" cy="105156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3337560"/>
            <a:ext cx="41148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500" b="1">
                <a:solidFill>
                  <a:srgbClr val="CCA359"/>
                </a:solidFill>
                <a:latin typeface="Arial"/>
              </a:defRPr>
            </a:pPr>
            <a:r>
              <a:t>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19272"/>
            <a:ext cx="3749039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700" b="1">
                <a:solidFill>
                  <a:srgbClr val="264335"/>
                </a:solidFill>
                <a:latin typeface="Arial"/>
              </a:defRPr>
            </a:pPr>
            <a:r>
              <a:t>اضغطي «تحقّقي من الإجابة» لمعرفة الحل.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54680"/>
            <a:ext cx="4800600" cy="105156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78440" y="3337560"/>
            <a:ext cx="41148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500" b="1">
                <a:solidFill>
                  <a:srgbClr val="CCA359"/>
                </a:solidFill>
                <a:latin typeface="Arial"/>
              </a:defRPr>
            </a:pPr>
            <a:r>
              <a:t>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19272"/>
            <a:ext cx="3749039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700" b="1">
                <a:solidFill>
                  <a:srgbClr val="264335"/>
                </a:solidFill>
                <a:latin typeface="Arial"/>
              </a:defRPr>
            </a:pPr>
            <a:r>
              <a:t>استخدمي زر «العودة للخريطة» للانتقال بين المحطات.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794760" y="5166360"/>
            <a:ext cx="4572000" cy="685800"/>
          </a:xfrm>
          <a:prstGeom prst="roundRect">
            <a:avLst/>
          </a:prstGeom>
          <a:solidFill>
            <a:srgbClr val="4D704F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800" b="1">
                <a:solidFill>
                  <a:srgbClr val="FFFDF6"/>
                </a:solidFill>
                <a:latin typeface="Arial"/>
              </a:defRPr>
            </a:pPr>
            <a:r>
              <a:t>إلى خريطة المحطات  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خريطة المغامرة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اختاري محطة لبدء التحدّي — يمكنك العودة إلى هذه الخريطة في أي وقت.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594360" y="2103120"/>
            <a:ext cx="2057400" cy="2240280"/>
          </a:xfrm>
          <a:prstGeom prst="roundRect">
            <a:avLst/>
          </a:prstGeom>
          <a:solidFill>
            <a:srgbClr val="FFFDF6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440" y="1645920"/>
            <a:ext cx="777240" cy="777240"/>
          </a:xfrm>
          <a:prstGeom prst="roundRect">
            <a:avLst/>
          </a:prstGeom>
          <a:solidFill>
            <a:srgbClr val="4D704F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37360"/>
            <a:ext cx="6858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200" b="1">
                <a:solidFill>
                  <a:srgbClr val="FFFDF6"/>
                </a:solidFill>
                <a:latin typeface="Arial"/>
              </a:defRPr>
            </a:pPr>
            <a:r>
              <a:t>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560320"/>
            <a:ext cx="182880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264335"/>
                </a:solidFill>
                <a:latin typeface="Arial"/>
              </a:defRPr>
            </a:pPr>
            <a:r>
              <a:t>بيئات النباتات</a:t>
            </a:r>
          </a:p>
        </p:txBody>
      </p:sp>
      <p:sp>
        <p:nvSpPr>
          <p:cNvPr id="8" name="TextBox 7">
            <a:hlinkClick action="ppaction://hlinksldjump" r:id="rId3"/>
          </p:cNvPr>
          <p:cNvSpPr txBox="1"/>
          <p:nvPr/>
        </p:nvSpPr>
        <p:spPr>
          <a:xfrm>
            <a:off x="731520" y="3246120"/>
            <a:ext cx="178308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0">
                <a:solidFill>
                  <a:srgbClr val="4D704F"/>
                </a:solidFill>
                <a:latin typeface="Arial"/>
              </a:defRPr>
            </a:pPr>
            <a:r>
              <a:t>سؤال عن التكيّف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2103120"/>
            <a:ext cx="2057400" cy="2240280"/>
          </a:xfrm>
          <a:prstGeom prst="roundRect">
            <a:avLst/>
          </a:prstGeom>
          <a:solidFill>
            <a:srgbClr val="FFFDF6"/>
          </a:solidFill>
          <a:ln>
            <a:solidFill>
              <a:srgbClr val="57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59" y="1645920"/>
            <a:ext cx="777240" cy="777240"/>
          </a:xfrm>
          <a:prstGeom prst="roundRect">
            <a:avLst/>
          </a:prstGeom>
          <a:solidFill>
            <a:srgbClr val="578591"/>
          </a:solidFill>
          <a:ln>
            <a:solidFill>
              <a:srgbClr val="57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737360"/>
            <a:ext cx="6858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200" b="1">
                <a:solidFill>
                  <a:srgbClr val="FFFDF6"/>
                </a:solidFill>
                <a:latin typeface="Arial"/>
              </a:defRPr>
            </a:pPr>
            <a:r>
              <a:t>٢</a:t>
            </a:r>
          </a:p>
        </p:txBody>
      </p:sp>
      <p:sp>
        <p:nvSpPr>
          <p:cNvPr id="12" name="TextBox 11">
            <a:hlinkClick action="ppaction://hlinksldjump" r:id="rId4"/>
          </p:cNvPr>
          <p:cNvSpPr txBox="1"/>
          <p:nvPr/>
        </p:nvSpPr>
        <p:spPr>
          <a:xfrm>
            <a:off x="3035808" y="2560320"/>
            <a:ext cx="182880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264335"/>
                </a:solidFill>
                <a:latin typeface="Arial"/>
              </a:defRPr>
            </a:pPr>
            <a:r>
              <a:t>النباتات المائية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3246120"/>
            <a:ext cx="178308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0">
                <a:solidFill>
                  <a:srgbClr val="4D704F"/>
                </a:solidFill>
                <a:latin typeface="Arial"/>
              </a:defRPr>
            </a:pPr>
            <a:r>
              <a:t>ماء وطحالب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103120"/>
            <a:ext cx="2057400" cy="2240280"/>
          </a:xfrm>
          <a:prstGeom prst="roundRect">
            <a:avLst/>
          </a:prstGeom>
          <a:solidFill>
            <a:srgbClr val="FFFDF6"/>
          </a:solidFill>
          <a:ln>
            <a:solidFill>
              <a:srgbClr val="77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97880" y="1645920"/>
            <a:ext cx="777240" cy="777240"/>
          </a:xfrm>
          <a:prstGeom prst="roundRect">
            <a:avLst/>
          </a:prstGeom>
          <a:solidFill>
            <a:srgbClr val="775B3E"/>
          </a:solidFill>
          <a:ln>
            <a:solidFill>
              <a:srgbClr val="77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5"/>
          </p:cNvPr>
          <p:cNvSpPr txBox="1"/>
          <p:nvPr/>
        </p:nvSpPr>
        <p:spPr>
          <a:xfrm>
            <a:off x="5943600" y="1737360"/>
            <a:ext cx="6858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200" b="1">
                <a:solidFill>
                  <a:srgbClr val="FFFDF6"/>
                </a:solidFill>
                <a:latin typeface="Arial"/>
              </a:defRPr>
            </a:pPr>
            <a:r>
              <a:t>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560320"/>
            <a:ext cx="182880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264335"/>
                </a:solidFill>
                <a:latin typeface="Arial"/>
              </a:defRPr>
            </a:pPr>
            <a:r>
              <a:t>الحزازيات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246120"/>
            <a:ext cx="178308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0">
                <a:solidFill>
                  <a:srgbClr val="4D704F"/>
                </a:solidFill>
                <a:latin typeface="Arial"/>
              </a:defRPr>
            </a:pPr>
            <a:r>
              <a:t>عالم صغير رطب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19" y="2103120"/>
            <a:ext cx="2057400" cy="2240280"/>
          </a:xfrm>
          <a:prstGeom prst="roundRect">
            <a:avLst/>
          </a:prstGeom>
          <a:solidFill>
            <a:srgbClr val="FFFDF6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8229599" y="1645920"/>
            <a:ext cx="777240" cy="777240"/>
          </a:xfrm>
          <a:prstGeom prst="roundRect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1737360"/>
            <a:ext cx="6858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200" b="1">
                <a:solidFill>
                  <a:srgbClr val="FFFDF6"/>
                </a:solidFill>
                <a:latin typeface="Arial"/>
              </a:defRPr>
            </a:pPr>
            <a:r>
              <a:t>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7" y="2560320"/>
            <a:ext cx="182880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264335"/>
                </a:solidFill>
                <a:latin typeface="Arial"/>
              </a:defRPr>
            </a:pPr>
            <a:r>
              <a:t>السراخس والزهريات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246120"/>
            <a:ext cx="178308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0">
                <a:solidFill>
                  <a:srgbClr val="4D704F"/>
                </a:solidFill>
                <a:latin typeface="Arial"/>
              </a:defRPr>
            </a:pPr>
            <a:r>
              <a:t>كيف تتكاثر؟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2103120"/>
            <a:ext cx="2057400" cy="2240280"/>
          </a:xfrm>
          <a:prstGeom prst="roundRect">
            <a:avLst/>
          </a:prstGeom>
          <a:solidFill>
            <a:srgbClr val="FFFDF6"/>
          </a:solidFill>
          <a:ln>
            <a:solidFill>
              <a:srgbClr val="26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61319" y="1645920"/>
            <a:ext cx="777240" cy="777240"/>
          </a:xfrm>
          <a:prstGeom prst="roundRect">
            <a:avLst/>
          </a:prstGeom>
          <a:solidFill>
            <a:srgbClr val="264335"/>
          </a:solidFill>
          <a:ln>
            <a:solidFill>
              <a:srgbClr val="26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0" y="1737360"/>
            <a:ext cx="6858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200" b="1">
                <a:solidFill>
                  <a:srgbClr val="FFFDF6"/>
                </a:solidFill>
                <a:latin typeface="Arial"/>
              </a:defRPr>
            </a:pPr>
            <a:r>
              <a:t>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0967" y="2560320"/>
            <a:ext cx="182880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264335"/>
                </a:solidFill>
                <a:latin typeface="Arial"/>
              </a:defRPr>
            </a:pPr>
            <a:r>
              <a:t>كنز النباتات العُمانية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246120"/>
            <a:ext cx="178308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0">
                <a:solidFill>
                  <a:srgbClr val="4D704F"/>
                </a:solidFill>
                <a:latin typeface="Arial"/>
              </a:defRPr>
            </a:pPr>
            <a:r>
              <a:t>اللبان والقرم والعلعلان</a:t>
            </a:r>
          </a:p>
        </p:txBody>
      </p: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1188720" y="4846320"/>
            <a:ext cx="978408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900" b="1">
                <a:solidFill>
                  <a:srgbClr val="4D704F"/>
                </a:solidFill>
                <a:latin typeface="Arial"/>
              </a:defRPr>
            </a:pPr>
            <a:r>
              <a:t>اجمعي ٥ أوراق خضراء معنوية بإكمال المحطات الخمس!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محطة ١ | بيئات النباتات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اختاري إجابة واحدة، ثم اضغطي على زر التحقّق.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18288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000" b="1">
                <a:solidFill>
                  <a:srgbClr val="775B3E"/>
                </a:solidFill>
                <a:latin typeface="Arial"/>
              </a:defRPr>
            </a:pPr>
            <a:r>
              <a:t>المحطة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105156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51560" y="1572768"/>
            <a:ext cx="1005840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200" b="1">
                <a:solidFill>
                  <a:srgbClr val="264335"/>
                </a:solidFill>
                <a:latin typeface="Arial"/>
              </a:defRPr>
            </a:pPr>
            <a:r>
              <a:t>ما العامل الذي يرتبط به شكل النبات وطريقة نموّه؟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920240" y="2788920"/>
            <a:ext cx="8321040" cy="566928"/>
          </a:xfrm>
          <a:prstGeom prst="roundRect">
            <a:avLst/>
          </a:prstGeom>
          <a:solidFill>
            <a:srgbClr val="4D704F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لون السماء فقط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1920240" y="3566160"/>
            <a:ext cx="8321040" cy="566928"/>
          </a:xfrm>
          <a:prstGeom prst="roundRect">
            <a:avLst/>
          </a:prstGeom>
          <a:solidFill>
            <a:srgbClr val="578591"/>
          </a:solidFill>
          <a:ln>
            <a:solidFill>
              <a:srgbClr val="57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البيئة التي يعيش فيها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4343400"/>
            <a:ext cx="8321040" cy="566928"/>
          </a:xfrm>
          <a:prstGeom prst="roundRect">
            <a:avLst/>
          </a:prstGeom>
          <a:solidFill>
            <a:srgbClr val="775B3E"/>
          </a:solidFill>
          <a:ln>
            <a:solidFill>
              <a:srgbClr val="77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عدد أوراق الكتاب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3794760" y="5349240"/>
            <a:ext cx="4572000" cy="566928"/>
          </a:xfrm>
          <a:prstGeom prst="roundRect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264335"/>
                </a:solidFill>
                <a:latin typeface="Arial"/>
              </a:defRPr>
            </a:pPr>
            <a:r>
              <a:t>تحقّقي من الإجابة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أحسنتِ! إجابة صحيحة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محطة ١ | بيئات النباتات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554480"/>
            <a:ext cx="10058400" cy="182880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6360" y="1645920"/>
            <a:ext cx="182880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3800" b="1">
                <a:solidFill>
                  <a:srgbClr val="4D704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331720"/>
            <a:ext cx="9144000" cy="7772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900" b="1">
                <a:solidFill>
                  <a:srgbClr val="264335"/>
                </a:solidFill>
                <a:latin typeface="Arial"/>
              </a:defRPr>
            </a:pPr>
            <a:r>
              <a:t>شكل النبات وطريقة نموّه يرتبطان ببيئته، مثل الماء والتربة والضوء والرطوبة.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3383280" y="4160520"/>
            <a:ext cx="5394960" cy="685800"/>
          </a:xfrm>
          <a:prstGeom prst="roundRect">
            <a:avLst/>
          </a:prstGeom>
          <a:solidFill>
            <a:srgbClr val="4D704F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العودة إلى خريطة المحطات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حاولي مرة أخرى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محطة ١ | بيئات النباتات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554480"/>
            <a:ext cx="10058400" cy="182880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920240"/>
            <a:ext cx="9326880" cy="7315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100" b="1">
                <a:solidFill>
                  <a:srgbClr val="264335"/>
                </a:solidFill>
                <a:latin typeface="Arial"/>
              </a:defRPr>
            </a:pPr>
            <a:r>
              <a:t>لا بأس! التعلّم رحلة من المحاولة والاكتشاف.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3657600" y="4160520"/>
            <a:ext cx="4846320" cy="685800"/>
          </a:xfrm>
          <a:prstGeom prst="roundRect">
            <a:avLst/>
          </a:prstGeom>
          <a:solidFill>
            <a:srgbClr val="A44C3F"/>
          </a:solidFill>
          <a:ln>
            <a:solidFill>
              <a:srgbClr val="A44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العودة للسؤال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محطة ٢ | النباتات المائية والطحالب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اختاري إجابة واحدة، ثم اضغطي على زر التحقّق.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18288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000" b="1">
                <a:solidFill>
                  <a:srgbClr val="775B3E"/>
                </a:solidFill>
                <a:latin typeface="Arial"/>
              </a:defRPr>
            </a:pPr>
            <a:r>
              <a:t>المحطة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105156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51560" y="1572768"/>
            <a:ext cx="1005840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200" b="1">
                <a:solidFill>
                  <a:srgbClr val="264335"/>
                </a:solidFill>
                <a:latin typeface="Arial"/>
              </a:defRPr>
            </a:pPr>
            <a:r>
              <a:t>أي عبارة صحيحة عن النباتات المائية؟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920240" y="2788920"/>
            <a:ext cx="8321040" cy="566928"/>
          </a:xfrm>
          <a:prstGeom prst="roundRect">
            <a:avLst/>
          </a:prstGeom>
          <a:solidFill>
            <a:srgbClr val="4D704F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كلها طافية على السطح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1920240" y="3566160"/>
            <a:ext cx="8321040" cy="566928"/>
          </a:xfrm>
          <a:prstGeom prst="roundRect">
            <a:avLst/>
          </a:prstGeom>
          <a:solidFill>
            <a:srgbClr val="578591"/>
          </a:solidFill>
          <a:ln>
            <a:solidFill>
              <a:srgbClr val="57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قد تكون طافية أو مغمورة كليًا أو جزئيًا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4343400"/>
            <a:ext cx="8321040" cy="566928"/>
          </a:xfrm>
          <a:prstGeom prst="roundRect">
            <a:avLst/>
          </a:prstGeom>
          <a:solidFill>
            <a:srgbClr val="775B3E"/>
          </a:solidFill>
          <a:ln>
            <a:solidFill>
              <a:srgbClr val="77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لا تعيش إلا في المياه المالحة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3794760" y="5349240"/>
            <a:ext cx="4572000" cy="566928"/>
          </a:xfrm>
          <a:prstGeom prst="roundRect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264335"/>
                </a:solidFill>
                <a:latin typeface="Arial"/>
              </a:defRPr>
            </a:pPr>
            <a:r>
              <a:t>تحقّقي من الإجابة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أحسنتِ! إجابة صحيحة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محطة ٢ | النباتات المائية والطحالب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554480"/>
            <a:ext cx="10058400" cy="182880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6360" y="1645920"/>
            <a:ext cx="182880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3800" b="1">
                <a:solidFill>
                  <a:srgbClr val="4D704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331720"/>
            <a:ext cx="9144000" cy="7772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900" b="1">
                <a:solidFill>
                  <a:srgbClr val="264335"/>
                </a:solidFill>
                <a:latin typeface="Arial"/>
              </a:defRPr>
            </a:pPr>
            <a:r>
              <a:t>تختلف النباتات المائية؛ فمنها الطافي ومنها المغمور كليًا أو جزئيًا.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3383280" y="4160520"/>
            <a:ext cx="5394960" cy="685800"/>
          </a:xfrm>
          <a:prstGeom prst="roundRect">
            <a:avLst/>
          </a:prstGeom>
          <a:solidFill>
            <a:srgbClr val="4D704F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العودة إلى خريطة المحطات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حاولي مرة أخرى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محطة ٢ | النباتات المائية والطحالب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554480"/>
            <a:ext cx="10058400" cy="182880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920240"/>
            <a:ext cx="9326880" cy="7315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100" b="1">
                <a:solidFill>
                  <a:srgbClr val="264335"/>
                </a:solidFill>
                <a:latin typeface="Arial"/>
              </a:defRPr>
            </a:pPr>
            <a:r>
              <a:t>لا بأس! التعلّم رحلة من المحاولة والاكتشاف.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3657600" y="4160520"/>
            <a:ext cx="4846320" cy="685800"/>
          </a:xfrm>
          <a:prstGeom prst="roundRect">
            <a:avLst/>
          </a:prstGeom>
          <a:solidFill>
            <a:srgbClr val="A44C3F"/>
          </a:solidFill>
          <a:ln>
            <a:solidFill>
              <a:srgbClr val="A44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العودة للسؤال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محطة ٣ | الحزازيات وحشيشة الكبد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اختاري إجابة واحدة، ثم اضغطي على زر التحقّق.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18288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000" b="1">
                <a:solidFill>
                  <a:srgbClr val="775B3E"/>
                </a:solidFill>
                <a:latin typeface="Arial"/>
              </a:defRPr>
            </a:pPr>
            <a:r>
              <a:t>المحطة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105156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51560" y="1572768"/>
            <a:ext cx="1005840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200" b="1">
                <a:solidFill>
                  <a:srgbClr val="264335"/>
                </a:solidFill>
                <a:latin typeface="Arial"/>
              </a:defRPr>
            </a:pPr>
            <a:r>
              <a:t>أين تكثر الحزازيات غالبًا؟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920240" y="2788920"/>
            <a:ext cx="8321040" cy="566928"/>
          </a:xfrm>
          <a:prstGeom prst="roundRect">
            <a:avLst/>
          </a:prstGeom>
          <a:solidFill>
            <a:srgbClr val="4D704F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في الأماكن الرطبة والظليلة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1920240" y="3566160"/>
            <a:ext cx="8321040" cy="566928"/>
          </a:xfrm>
          <a:prstGeom prst="roundRect">
            <a:avLst/>
          </a:prstGeom>
          <a:solidFill>
            <a:srgbClr val="578591"/>
          </a:solidFill>
          <a:ln>
            <a:solidFill>
              <a:srgbClr val="57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في الأماكن شديدة الجفاف فقط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4343400"/>
            <a:ext cx="8321040" cy="566928"/>
          </a:xfrm>
          <a:prstGeom prst="roundRect">
            <a:avLst/>
          </a:prstGeom>
          <a:solidFill>
            <a:srgbClr val="775B3E"/>
          </a:solidFill>
          <a:ln>
            <a:solidFill>
              <a:srgbClr val="77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داخل الرمال الجافة دائمًا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3794760" y="5349240"/>
            <a:ext cx="4572000" cy="566928"/>
          </a:xfrm>
          <a:prstGeom prst="roundRect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264335"/>
                </a:solidFill>
                <a:latin typeface="Arial"/>
              </a:defRPr>
            </a:pPr>
            <a:r>
              <a:t>تحقّقي من الإجابة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أحسنتِ! إجابة صحيحة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محطة ٣ | الحزازيات وحشيشة الكبد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554480"/>
            <a:ext cx="10058400" cy="182880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6360" y="1645920"/>
            <a:ext cx="182880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3800" b="1">
                <a:solidFill>
                  <a:srgbClr val="4D704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331720"/>
            <a:ext cx="9144000" cy="7772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900" b="1">
                <a:solidFill>
                  <a:srgbClr val="264335"/>
                </a:solidFill>
                <a:latin typeface="Arial"/>
              </a:defRPr>
            </a:pPr>
            <a:r>
              <a:t>الحزازيات صغيرة ومنخفضة النمو، وتكثر غالبًا في الأماكن الرطبة والظليلة.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3383280" y="4160520"/>
            <a:ext cx="5394960" cy="685800"/>
          </a:xfrm>
          <a:prstGeom prst="roundRect">
            <a:avLst/>
          </a:prstGeom>
          <a:solidFill>
            <a:srgbClr val="4D704F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العودة إلى خريطة المحطات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حاولي مرة أخرى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محطة ٣ | الحزازيات وحشيشة الكبد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554480"/>
            <a:ext cx="10058400" cy="182880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920240"/>
            <a:ext cx="9326880" cy="7315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100" b="1">
                <a:solidFill>
                  <a:srgbClr val="264335"/>
                </a:solidFill>
                <a:latin typeface="Arial"/>
              </a:defRPr>
            </a:pPr>
            <a:r>
              <a:t>لا بأس! التعلّم رحلة من المحاولة والاكتشاف.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3657600" y="4160520"/>
            <a:ext cx="4846320" cy="685800"/>
          </a:xfrm>
          <a:prstGeom prst="roundRect">
            <a:avLst/>
          </a:prstGeom>
          <a:solidFill>
            <a:srgbClr val="A44C3F"/>
          </a:solidFill>
          <a:ln>
            <a:solidFill>
              <a:srgbClr val="A44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العودة للسؤال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محطة ٤ | السراخس والنباتات الزهرية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اختاري إجابة واحدة، ثم اضغطي على زر التحقّق.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18288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000" b="1">
                <a:solidFill>
                  <a:srgbClr val="775B3E"/>
                </a:solidFill>
                <a:latin typeface="Arial"/>
              </a:defRPr>
            </a:pPr>
            <a:r>
              <a:t>المحطة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105156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51560" y="1572768"/>
            <a:ext cx="1005840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200" b="1">
                <a:solidFill>
                  <a:srgbClr val="264335"/>
                </a:solidFill>
                <a:latin typeface="Arial"/>
              </a:defRPr>
            </a:pPr>
            <a:r>
              <a:t>بماذا تتكاثر السراخس؟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920240" y="2788920"/>
            <a:ext cx="8321040" cy="566928"/>
          </a:xfrm>
          <a:prstGeom prst="roundRect">
            <a:avLst/>
          </a:prstGeom>
          <a:solidFill>
            <a:srgbClr val="4D704F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بالأزهار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1920240" y="3566160"/>
            <a:ext cx="8321040" cy="566928"/>
          </a:xfrm>
          <a:prstGeom prst="roundRect">
            <a:avLst/>
          </a:prstGeom>
          <a:solidFill>
            <a:srgbClr val="578591"/>
          </a:solidFill>
          <a:ln>
            <a:solidFill>
              <a:srgbClr val="57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بالأبواغ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4343400"/>
            <a:ext cx="8321040" cy="566928"/>
          </a:xfrm>
          <a:prstGeom prst="roundRect">
            <a:avLst/>
          </a:prstGeom>
          <a:solidFill>
            <a:srgbClr val="775B3E"/>
          </a:solidFill>
          <a:ln>
            <a:solidFill>
              <a:srgbClr val="77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بالثمار فقط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3794760" y="5349240"/>
            <a:ext cx="4572000" cy="566928"/>
          </a:xfrm>
          <a:prstGeom prst="roundRect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264335"/>
                </a:solidFill>
                <a:latin typeface="Arial"/>
              </a:defRPr>
            </a:pPr>
            <a:r>
              <a:t>تحقّقي من الإجابة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أحسنتِ! إجابة صحيحة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محطة ٤ | السراخس والنباتات الزهرية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554480"/>
            <a:ext cx="10058400" cy="182880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6360" y="1645920"/>
            <a:ext cx="182880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3800" b="1">
                <a:solidFill>
                  <a:srgbClr val="4D704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331720"/>
            <a:ext cx="9144000" cy="7772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900" b="1">
                <a:solidFill>
                  <a:srgbClr val="264335"/>
                </a:solidFill>
                <a:latin typeface="Arial"/>
              </a:defRPr>
            </a:pPr>
            <a:r>
              <a:t>تتكاثر السراخس بالأبواغ، لا بالبذور.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3383280" y="4160520"/>
            <a:ext cx="5394960" cy="685800"/>
          </a:xfrm>
          <a:prstGeom prst="roundRect">
            <a:avLst/>
          </a:prstGeom>
          <a:solidFill>
            <a:srgbClr val="4D704F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العودة إلى خريطة المحطات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حاولي مرة أخرى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محطة ٤ | السراخس والنباتات الزهرية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554480"/>
            <a:ext cx="10058400" cy="182880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920240"/>
            <a:ext cx="9326880" cy="7315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100" b="1">
                <a:solidFill>
                  <a:srgbClr val="264335"/>
                </a:solidFill>
                <a:latin typeface="Arial"/>
              </a:defRPr>
            </a:pPr>
            <a:r>
              <a:t>لا بأس! التعلّم رحلة من المحاولة والاكتشاف.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3657600" y="4160520"/>
            <a:ext cx="4846320" cy="685800"/>
          </a:xfrm>
          <a:prstGeom prst="roundRect">
            <a:avLst/>
          </a:prstGeom>
          <a:solidFill>
            <a:srgbClr val="A44C3F"/>
          </a:solidFill>
          <a:ln>
            <a:solidFill>
              <a:srgbClr val="A44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العودة للسؤال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محطة ٥ | كنز النباتات العُمانية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اختاري إجابة واحدة، ثم اضغطي على زر التحقّق.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18288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000" b="1">
                <a:solidFill>
                  <a:srgbClr val="775B3E"/>
                </a:solidFill>
                <a:latin typeface="Arial"/>
              </a:defRPr>
            </a:pPr>
            <a:r>
              <a:t>المحطة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105156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51560" y="1572768"/>
            <a:ext cx="1005840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200" b="1">
                <a:solidFill>
                  <a:srgbClr val="264335"/>
                </a:solidFill>
                <a:latin typeface="Arial"/>
              </a:defRPr>
            </a:pPr>
            <a:r>
              <a:t>أي نبات تشتهر به محافظة ظفار؟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920240" y="2788920"/>
            <a:ext cx="8321040" cy="566928"/>
          </a:xfrm>
          <a:prstGeom prst="roundRect">
            <a:avLst/>
          </a:prstGeom>
          <a:solidFill>
            <a:srgbClr val="4D704F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اللبان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1920240" y="3566160"/>
            <a:ext cx="8321040" cy="566928"/>
          </a:xfrm>
          <a:prstGeom prst="roundRect">
            <a:avLst/>
          </a:prstGeom>
          <a:solidFill>
            <a:srgbClr val="578591"/>
          </a:solidFill>
          <a:ln>
            <a:solidFill>
              <a:srgbClr val="57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القمح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4343400"/>
            <a:ext cx="8321040" cy="566928"/>
          </a:xfrm>
          <a:prstGeom prst="roundRect">
            <a:avLst/>
          </a:prstGeom>
          <a:solidFill>
            <a:srgbClr val="775B3E"/>
          </a:solidFill>
          <a:ln>
            <a:solidFill>
              <a:srgbClr val="77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دوار الشمس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3794760" y="5349240"/>
            <a:ext cx="4572000" cy="566928"/>
          </a:xfrm>
          <a:prstGeom prst="roundRect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264335"/>
                </a:solidFill>
                <a:latin typeface="Arial"/>
              </a:defRPr>
            </a:pPr>
            <a:r>
              <a:t>تحقّقي من الإجابة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أحسنتِ! إجابة صحيحة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محطة ٥ | كنز النباتات العُمانية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554480"/>
            <a:ext cx="10058400" cy="182880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6360" y="1645920"/>
            <a:ext cx="182880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3800" b="1">
                <a:solidFill>
                  <a:srgbClr val="4D704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331720"/>
            <a:ext cx="9144000" cy="7772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900" b="1">
                <a:solidFill>
                  <a:srgbClr val="264335"/>
                </a:solidFill>
                <a:latin typeface="Arial"/>
              </a:defRPr>
            </a:pPr>
            <a:r>
              <a:t>تشتهر محافظة ظفار باللبان، وله قيمة تراثية واقتصادية ارتبطت بالتجارة عبر التاريخ.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3383280" y="4160520"/>
            <a:ext cx="5394960" cy="685800"/>
          </a:xfrm>
          <a:prstGeom prst="roundRect">
            <a:avLst/>
          </a:prstGeom>
          <a:solidFill>
            <a:srgbClr val="4D704F"/>
          </a:solidFill>
          <a:ln>
            <a:solidFill>
              <a:srgbClr val="4D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العودة إلى خريطة المحطات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2700" b="1">
                <a:solidFill>
                  <a:srgbClr val="264335"/>
                </a:solidFill>
                <a:latin typeface="Arial"/>
              </a:defRPr>
            </a:pPr>
            <a:r>
              <a:t>حاولي مرة أخرى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1300" b="0">
                <a:solidFill>
                  <a:srgbClr val="4D704F"/>
                </a:solidFill>
                <a:latin typeface="Arial"/>
              </a:defRPr>
            </a:pPr>
            <a:r>
              <a:t>محطة ٥ | كنز النباتات العُمانية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554480"/>
            <a:ext cx="10058400" cy="1828800"/>
          </a:xfrm>
          <a:prstGeom prst="roundRect">
            <a:avLst/>
          </a:prstGeom>
          <a:solidFill>
            <a:srgbClr val="FFFDF6"/>
          </a:solidFill>
          <a:ln>
            <a:solidFill>
              <a:srgbClr val="B8C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920240"/>
            <a:ext cx="9326880" cy="7315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100" b="1">
                <a:solidFill>
                  <a:srgbClr val="264335"/>
                </a:solidFill>
                <a:latin typeface="Arial"/>
              </a:defRPr>
            </a:pPr>
            <a:r>
              <a:t>لا بأس! التعلّم رحلة من المحاولة والاكتشاف.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3657600" y="4160520"/>
            <a:ext cx="4846320" cy="685800"/>
          </a:xfrm>
          <a:prstGeom prst="roundRect">
            <a:avLst/>
          </a:prstGeom>
          <a:solidFill>
            <a:srgbClr val="A44C3F"/>
          </a:solidFill>
          <a:ln>
            <a:solidFill>
              <a:srgbClr val="A44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FFFDF6"/>
                </a:solidFill>
                <a:latin typeface="Arial"/>
              </a:defRPr>
            </a:pPr>
            <a:r>
              <a:t>العودة للسؤال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3100" b="1">
                <a:solidFill>
                  <a:srgbClr val="FFFDF6"/>
                </a:solidFill>
                <a:latin typeface="Arial"/>
              </a:defRPr>
            </a:pPr>
            <a:r>
              <a:t>وصلتِ إلى نهاية المغامرة!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000" b="1">
                <a:solidFill>
                  <a:srgbClr val="CCA359"/>
                </a:solidFill>
                <a:latin typeface="Arial"/>
              </a:defRPr>
            </a:pPr>
            <a:r>
              <a:t>تحدّي الختام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2423160"/>
            <a:ext cx="9509760" cy="1417320"/>
          </a:xfrm>
          <a:prstGeom prst="roundRect">
            <a:avLst/>
          </a:prstGeom>
          <a:solidFill>
            <a:srgbClr val="335643"/>
          </a:solidFill>
          <a:ln>
            <a:solidFill>
              <a:srgbClr val="33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651760"/>
            <a:ext cx="8869680" cy="8686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100" b="1">
                <a:solidFill>
                  <a:srgbClr val="FFFDF6"/>
                </a:solidFill>
                <a:latin typeface="Arial"/>
              </a:defRPr>
            </a:pPr>
            <a:r>
              <a:t>اذكري سلوكًا واحدًا يساعد على حماية النباتات العُمانية.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9966960" cy="7315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0">
                <a:solidFill>
                  <a:srgbClr val="B8C7A8"/>
                </a:solidFill>
                <a:latin typeface="Arial"/>
              </a:defRPr>
            </a:pPr>
            <a:r>
              <a:t>تذكّري: لا نقتلع النباتات ولا نتلف موائلها، ونستخدم الموارد الطبيعية استخدامًا مستدامًا.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3977639" y="5212080"/>
            <a:ext cx="4206240" cy="640080"/>
          </a:xfrm>
          <a:prstGeom prst="roundRect">
            <a:avLst/>
          </a:prstGeom>
          <a:solidFill>
            <a:srgbClr val="CCA359"/>
          </a:solidFill>
          <a:ln>
            <a:solidFill>
              <a:srgbClr val="CCA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700" b="1">
                <a:solidFill>
                  <a:srgbClr val="264335"/>
                </a:solidFill>
                <a:latin typeface="Arial"/>
              </a:defRPr>
            </a:pPr>
            <a:r>
              <a:t>العودة إلى البداية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