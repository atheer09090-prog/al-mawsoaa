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57" r:id="rId4"/>
    <p:sldId id="258" r:id="rId5"/>
    <p:sldId id="259" r:id="rId6"/>
    <p:sldId id="260" r:id="rId7"/>
    <p:sldId id="261" r:id="rId8"/>
    <p:sldId id="262" r:id="rId9"/>
    <p:sldId id="263" r:id="rId10"/>
  </p:sldIdLst>
  <p:sldSz cx="18288000" cy="10287000"/>
  <p:notesSz cx="6858000" cy="9144000"/>
  <p:embeddedFontLst>
    <p:embeddedFont>
      <p:font typeface="AktivGrotesk-XBold" panose="020B0803020202020204" pitchFamily="34" charset="0"/>
      <p:regular r:id="rId11"/>
    </p:embeddedFont>
    <p:embeddedFont>
      <p:font typeface="GE SS Two Medium" panose="020B0604020202020204" charset="-78"/>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22" d="100"/>
          <a:sy n="22" d="100"/>
        </p:scale>
        <p:origin x="2506" y="9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10.png"/><Relationship Id="rId4" Type="http://schemas.openxmlformats.org/officeDocument/2006/relationships/image" Target="../media/image12.sv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sv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10"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0.sv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1.svg"/><Relationship Id="rId4" Type="http://schemas.openxmlformats.org/officeDocument/2006/relationships/image" Target="../media/image13.sv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1.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13.svg"/><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609600" y="-689791"/>
            <a:ext cx="19507200" cy="11339855"/>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3" name="Freeform 3"/>
          <p:cNvSpPr/>
          <p:nvPr/>
        </p:nvSpPr>
        <p:spPr>
          <a:xfrm>
            <a:off x="-2571750" y="-29342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4" name="Freeform 4"/>
          <p:cNvSpPr/>
          <p:nvPr/>
        </p:nvSpPr>
        <p:spPr>
          <a:xfrm>
            <a:off x="14636999" y="-1275244"/>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5" name="Freeform 5"/>
          <p:cNvSpPr/>
          <p:nvPr/>
        </p:nvSpPr>
        <p:spPr>
          <a:xfrm>
            <a:off x="14367089" y="-2152658"/>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grpSp>
        <p:nvGrpSpPr>
          <p:cNvPr id="6" name="Group 6"/>
          <p:cNvGrpSpPr/>
          <p:nvPr/>
        </p:nvGrpSpPr>
        <p:grpSpPr>
          <a:xfrm>
            <a:off x="-11926311" y="789341"/>
            <a:ext cx="2742994" cy="8267003"/>
            <a:chOff x="0" y="0"/>
            <a:chExt cx="722435" cy="2177318"/>
          </a:xfrm>
        </p:grpSpPr>
        <p:sp>
          <p:nvSpPr>
            <p:cNvPr id="7" name="Freeform 7"/>
            <p:cNvSpPr/>
            <p:nvPr/>
          </p:nvSpPr>
          <p:spPr>
            <a:xfrm>
              <a:off x="0" y="0"/>
              <a:ext cx="722435" cy="2177318"/>
            </a:xfrm>
            <a:custGeom>
              <a:avLst/>
              <a:gdLst/>
              <a:ahLst/>
              <a:cxnLst/>
              <a:rect l="l" t="t" r="r" b="b"/>
              <a:pathLst>
                <a:path w="722435" h="2177318">
                  <a:moveTo>
                    <a:pt x="282243" y="0"/>
                  </a:moveTo>
                  <a:lnTo>
                    <a:pt x="440191" y="0"/>
                  </a:lnTo>
                  <a:cubicBezTo>
                    <a:pt x="515047" y="0"/>
                    <a:pt x="586836" y="29736"/>
                    <a:pt x="639767" y="82667"/>
                  </a:cubicBezTo>
                  <a:cubicBezTo>
                    <a:pt x="692698" y="135598"/>
                    <a:pt x="722435" y="207388"/>
                    <a:pt x="722435" y="282243"/>
                  </a:cubicBezTo>
                  <a:lnTo>
                    <a:pt x="722435" y="1895074"/>
                  </a:lnTo>
                  <a:cubicBezTo>
                    <a:pt x="722435" y="1969930"/>
                    <a:pt x="692698" y="2041720"/>
                    <a:pt x="639767" y="2094650"/>
                  </a:cubicBezTo>
                  <a:cubicBezTo>
                    <a:pt x="586836" y="2147581"/>
                    <a:pt x="515047" y="2177318"/>
                    <a:pt x="440191" y="2177318"/>
                  </a:cubicBezTo>
                  <a:lnTo>
                    <a:pt x="282243" y="2177318"/>
                  </a:lnTo>
                  <a:cubicBezTo>
                    <a:pt x="126365" y="2177318"/>
                    <a:pt x="0" y="2050953"/>
                    <a:pt x="0" y="1895074"/>
                  </a:cubicBezTo>
                  <a:lnTo>
                    <a:pt x="0" y="282243"/>
                  </a:lnTo>
                  <a:cubicBezTo>
                    <a:pt x="0" y="207388"/>
                    <a:pt x="29736" y="135598"/>
                    <a:pt x="82667" y="82667"/>
                  </a:cubicBezTo>
                  <a:cubicBezTo>
                    <a:pt x="135598" y="29736"/>
                    <a:pt x="207388" y="0"/>
                    <a:pt x="282243"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8" name="TextBox 8"/>
            <p:cNvSpPr txBox="1"/>
            <p:nvPr/>
          </p:nvSpPr>
          <p:spPr>
            <a:xfrm>
              <a:off x="0" y="-76200"/>
              <a:ext cx="722435" cy="2253518"/>
            </a:xfrm>
            <a:prstGeom prst="rect">
              <a:avLst/>
            </a:prstGeom>
          </p:spPr>
          <p:txBody>
            <a:bodyPr lIns="50800" tIns="50800" rIns="50800" bIns="50800" rtlCol="0" anchor="ctr"/>
            <a:lstStyle/>
            <a:p>
              <a:pPr algn="ctr">
                <a:lnSpc>
                  <a:spcPts val="2859"/>
                </a:lnSpc>
              </a:pPr>
              <a:endParaRPr/>
            </a:p>
          </p:txBody>
        </p:sp>
      </p:grpSp>
      <p:sp>
        <p:nvSpPr>
          <p:cNvPr id="9" name="AutoShape 9"/>
          <p:cNvSpPr/>
          <p:nvPr/>
        </p:nvSpPr>
        <p:spPr>
          <a:xfrm flipH="1" flipV="1">
            <a:off x="-7967748" y="870704"/>
            <a:ext cx="0" cy="8185640"/>
          </a:xfrm>
          <a:prstGeom prst="line">
            <a:avLst/>
          </a:prstGeom>
          <a:ln w="142875" cap="flat">
            <a:gradFill>
              <a:gsLst>
                <a:gs pos="0">
                  <a:srgbClr val="7A3E12">
                    <a:alpha val="100000"/>
                  </a:srgbClr>
                </a:gs>
                <a:gs pos="100000">
                  <a:srgbClr val="2F1B11">
                    <a:alpha val="100000"/>
                  </a:srgbClr>
                </a:gs>
              </a:gsLst>
              <a:lin ang="2700000"/>
            </a:gradFill>
            <a:prstDash val="solid"/>
            <a:headEnd type="none" w="sm" len="sm"/>
            <a:tailEnd type="none" w="sm" len="sm"/>
          </a:ln>
        </p:spPr>
        <p:txBody>
          <a:bodyPr/>
          <a:lstStyle/>
          <a:p>
            <a:endParaRPr lang="ar-OM"/>
          </a:p>
        </p:txBody>
      </p:sp>
      <p:grpSp>
        <p:nvGrpSpPr>
          <p:cNvPr id="10" name="Group 10"/>
          <p:cNvGrpSpPr/>
          <p:nvPr/>
        </p:nvGrpSpPr>
        <p:grpSpPr>
          <a:xfrm rot="19670391">
            <a:off x="-7648660" y="870704"/>
            <a:ext cx="5594142" cy="8185640"/>
            <a:chOff x="0" y="0"/>
            <a:chExt cx="3995948" cy="5847080"/>
          </a:xfrm>
        </p:grpSpPr>
        <p:sp>
          <p:nvSpPr>
            <p:cNvPr id="11" name="Freeform 11"/>
            <p:cNvSpPr/>
            <p:nvPr/>
          </p:nvSpPr>
          <p:spPr>
            <a:xfrm>
              <a:off x="0" y="0"/>
              <a:ext cx="3995948" cy="5847080"/>
            </a:xfrm>
            <a:custGeom>
              <a:avLst/>
              <a:gdLst/>
              <a:ahLst/>
              <a:cxnLst/>
              <a:rect l="l" t="t" r="r" b="b"/>
              <a:pathLst>
                <a:path w="3995948" h="5847080">
                  <a:moveTo>
                    <a:pt x="3995948" y="5847080"/>
                  </a:moveTo>
                  <a:lnTo>
                    <a:pt x="484809" y="5847080"/>
                  </a:lnTo>
                  <a:cubicBezTo>
                    <a:pt x="217056" y="5847080"/>
                    <a:pt x="0" y="5630023"/>
                    <a:pt x="0" y="5362271"/>
                  </a:cubicBezTo>
                  <a:lnTo>
                    <a:pt x="0" y="484809"/>
                  </a:lnTo>
                  <a:cubicBezTo>
                    <a:pt x="0" y="217056"/>
                    <a:pt x="217056" y="0"/>
                    <a:pt x="484809" y="0"/>
                  </a:cubicBezTo>
                  <a:lnTo>
                    <a:pt x="1796573" y="0"/>
                  </a:lnTo>
                  <a:cubicBezTo>
                    <a:pt x="3012111" y="0"/>
                    <a:pt x="3995948" y="702310"/>
                    <a:pt x="3995948" y="1567180"/>
                  </a:cubicBezTo>
                  <a:lnTo>
                    <a:pt x="3995948" y="5847080"/>
                  </a:lnTo>
                  <a:cubicBezTo>
                    <a:pt x="3995948" y="5847080"/>
                    <a:pt x="3995948" y="5847080"/>
                    <a:pt x="3995948" y="5847080"/>
                  </a:cubicBezTo>
                  <a:cubicBezTo>
                    <a:pt x="3995948" y="5847080"/>
                    <a:pt x="3995948" y="5847080"/>
                    <a:pt x="3995948" y="5847080"/>
                  </a:cubicBezTo>
                  <a:close/>
                </a:path>
              </a:pathLst>
            </a:custGeom>
            <a:blipFill>
              <a:blip r:embed="rId5"/>
              <a:stretch>
                <a:fillRect l="-39938" b="-12371"/>
              </a:stretch>
            </a:blipFill>
            <a:ln w="190500" cap="rnd">
              <a:solidFill>
                <a:srgbClr val="FFFFFF"/>
              </a:solidFill>
              <a:prstDash val="solid"/>
              <a:round/>
            </a:ln>
          </p:spPr>
          <p:txBody>
            <a:bodyPr/>
            <a:lstStyle/>
            <a:p>
              <a:endParaRPr lang="ar-OM"/>
            </a:p>
          </p:txBody>
        </p:sp>
      </p:grpSp>
      <p:grpSp>
        <p:nvGrpSpPr>
          <p:cNvPr id="12" name="Group 12"/>
          <p:cNvGrpSpPr/>
          <p:nvPr/>
        </p:nvGrpSpPr>
        <p:grpSpPr>
          <a:xfrm>
            <a:off x="-5981363" y="980437"/>
            <a:ext cx="4641632" cy="3322807"/>
            <a:chOff x="0" y="0"/>
            <a:chExt cx="660400" cy="472761"/>
          </a:xfrm>
        </p:grpSpPr>
        <p:sp>
          <p:nvSpPr>
            <p:cNvPr id="13" name="Freeform 13"/>
            <p:cNvSpPr/>
            <p:nvPr/>
          </p:nvSpPr>
          <p:spPr>
            <a:xfrm>
              <a:off x="0" y="0"/>
              <a:ext cx="660400" cy="472761"/>
            </a:xfrm>
            <a:custGeom>
              <a:avLst/>
              <a:gdLst/>
              <a:ahLst/>
              <a:cxnLst/>
              <a:rect l="l" t="t" r="r" b="b"/>
              <a:pathLst>
                <a:path w="660400" h="47276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949"/>
                  </a:cubicBezTo>
                  <a:lnTo>
                    <a:pt x="660400" y="413132"/>
                  </a:lnTo>
                  <a:cubicBezTo>
                    <a:pt x="660400" y="446064"/>
                    <a:pt x="633703" y="472761"/>
                    <a:pt x="600771" y="472761"/>
                  </a:cubicBezTo>
                  <a:lnTo>
                    <a:pt x="59629" y="472761"/>
                  </a:lnTo>
                  <a:cubicBezTo>
                    <a:pt x="43814" y="472761"/>
                    <a:pt x="28647" y="466479"/>
                    <a:pt x="17465" y="455296"/>
                  </a:cubicBezTo>
                  <a:cubicBezTo>
                    <a:pt x="6282" y="444114"/>
                    <a:pt x="0" y="428947"/>
                    <a:pt x="0" y="413132"/>
                  </a:cubicBezTo>
                  <a:lnTo>
                    <a:pt x="0" y="321061"/>
                  </a:lnTo>
                  <a:cubicBezTo>
                    <a:pt x="1782" y="185660"/>
                    <a:pt x="93019" y="64045"/>
                    <a:pt x="220252" y="19070"/>
                  </a:cubicBezTo>
                  <a:lnTo>
                    <a:pt x="220252" y="19070"/>
                  </a:lnTo>
                  <a:close/>
                </a:path>
              </a:pathLst>
            </a:custGeom>
            <a:solidFill>
              <a:srgbClr val="006400"/>
            </a:solidFill>
            <a:ln cap="rnd">
              <a:noFill/>
              <a:prstDash val="solid"/>
              <a:round/>
            </a:ln>
          </p:spPr>
          <p:txBody>
            <a:bodyPr/>
            <a:lstStyle/>
            <a:p>
              <a:endParaRPr lang="ar-OM"/>
            </a:p>
          </p:txBody>
        </p:sp>
        <p:sp>
          <p:nvSpPr>
            <p:cNvPr id="14" name="TextBox 14"/>
            <p:cNvSpPr txBox="1"/>
            <p:nvPr/>
          </p:nvSpPr>
          <p:spPr>
            <a:xfrm>
              <a:off x="0" y="41275"/>
              <a:ext cx="660400" cy="431486"/>
            </a:xfrm>
            <a:prstGeom prst="rect">
              <a:avLst/>
            </a:prstGeom>
          </p:spPr>
          <p:txBody>
            <a:bodyPr lIns="50800" tIns="50800" rIns="50800" bIns="50800" rtlCol="0" anchor="ctr"/>
            <a:lstStyle/>
            <a:p>
              <a:pPr algn="ctr">
                <a:lnSpc>
                  <a:spcPts val="3161"/>
                </a:lnSpc>
              </a:pPr>
              <a:endParaRPr/>
            </a:p>
          </p:txBody>
        </p:sp>
      </p:grpSp>
      <p:sp>
        <p:nvSpPr>
          <p:cNvPr id="15" name="Freeform 15"/>
          <p:cNvSpPr/>
          <p:nvPr/>
        </p:nvSpPr>
        <p:spPr>
          <a:xfrm rot="6785649">
            <a:off x="-6037901" y="1015417"/>
            <a:ext cx="4754708" cy="4754708"/>
          </a:xfrm>
          <a:custGeom>
            <a:avLst/>
            <a:gdLst/>
            <a:ahLst/>
            <a:cxnLst/>
            <a:rect l="l" t="t" r="r" b="b"/>
            <a:pathLst>
              <a:path w="4754708" h="4754708">
                <a:moveTo>
                  <a:pt x="0" y="0"/>
                </a:moveTo>
                <a:lnTo>
                  <a:pt x="4754708" y="0"/>
                </a:lnTo>
                <a:lnTo>
                  <a:pt x="4754708" y="4754708"/>
                </a:lnTo>
                <a:lnTo>
                  <a:pt x="0" y="4754708"/>
                </a:lnTo>
                <a:lnTo>
                  <a:pt x="0" y="0"/>
                </a:lnTo>
                <a:close/>
              </a:path>
            </a:pathLst>
          </a:custGeom>
          <a:blipFill>
            <a:blip r:embed="rId6"/>
            <a:stretch>
              <a:fillRect/>
            </a:stretch>
          </a:blipFill>
        </p:spPr>
        <p:txBody>
          <a:bodyPr/>
          <a:lstStyle/>
          <a:p>
            <a:endParaRPr lang="ar-OM"/>
          </a:p>
        </p:txBody>
      </p:sp>
      <p:grpSp>
        <p:nvGrpSpPr>
          <p:cNvPr id="16" name="Group 16"/>
          <p:cNvGrpSpPr/>
          <p:nvPr/>
        </p:nvGrpSpPr>
        <p:grpSpPr>
          <a:xfrm rot="10800000">
            <a:off x="-5452649" y="1600669"/>
            <a:ext cx="3584205" cy="358420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8" r="-25048"/>
              </a:stretch>
            </a:blipFill>
            <a:ln cap="sq">
              <a:noFill/>
              <a:prstDash val="solid"/>
              <a:miter/>
            </a:ln>
          </p:spPr>
          <p:txBody>
            <a:bodyPr/>
            <a:lstStyle/>
            <a:p>
              <a:endParaRPr lang="ar-OM"/>
            </a:p>
          </p:txBody>
        </p:sp>
      </p:grpSp>
      <p:sp>
        <p:nvSpPr>
          <p:cNvPr id="18" name="AutoShape 18"/>
          <p:cNvSpPr/>
          <p:nvPr/>
        </p:nvSpPr>
        <p:spPr>
          <a:xfrm flipV="1">
            <a:off x="-8417633" y="3039714"/>
            <a:ext cx="0" cy="3444880"/>
          </a:xfrm>
          <a:prstGeom prst="line">
            <a:avLst/>
          </a:prstGeom>
          <a:ln w="95250" cap="flat">
            <a:solidFill>
              <a:srgbClr val="FFFFFF"/>
            </a:solidFill>
            <a:prstDash val="solid"/>
            <a:headEnd type="none" w="sm" len="sm"/>
            <a:tailEnd type="none" w="sm" len="sm"/>
          </a:ln>
        </p:spPr>
        <p:txBody>
          <a:bodyPr/>
          <a:lstStyle/>
          <a:p>
            <a:endParaRPr lang="ar-OM"/>
          </a:p>
        </p:txBody>
      </p:sp>
      <p:grpSp>
        <p:nvGrpSpPr>
          <p:cNvPr id="19" name="Group 19"/>
          <p:cNvGrpSpPr/>
          <p:nvPr/>
        </p:nvGrpSpPr>
        <p:grpSpPr>
          <a:xfrm>
            <a:off x="11125200" y="12458700"/>
            <a:ext cx="5323992" cy="2665894"/>
            <a:chOff x="0" y="0"/>
            <a:chExt cx="1688563" cy="845518"/>
          </a:xfrm>
        </p:grpSpPr>
        <p:sp>
          <p:nvSpPr>
            <p:cNvPr id="20" name="Freeform 20"/>
            <p:cNvSpPr/>
            <p:nvPr/>
          </p:nvSpPr>
          <p:spPr>
            <a:xfrm>
              <a:off x="0" y="0"/>
              <a:ext cx="1688563" cy="845518"/>
            </a:xfrm>
            <a:custGeom>
              <a:avLst/>
              <a:gdLst/>
              <a:ahLst/>
              <a:cxnLst/>
              <a:rect l="l" t="t" r="r" b="b"/>
              <a:pathLst>
                <a:path w="1688563" h="845518">
                  <a:moveTo>
                    <a:pt x="43625" y="0"/>
                  </a:moveTo>
                  <a:lnTo>
                    <a:pt x="1644939" y="0"/>
                  </a:lnTo>
                  <a:cubicBezTo>
                    <a:pt x="1669032" y="0"/>
                    <a:pt x="1688563" y="19531"/>
                    <a:pt x="1688563" y="43625"/>
                  </a:cubicBezTo>
                  <a:lnTo>
                    <a:pt x="1688563" y="801893"/>
                  </a:lnTo>
                  <a:cubicBezTo>
                    <a:pt x="1688563" y="825986"/>
                    <a:pt x="1669032" y="845518"/>
                    <a:pt x="1644939" y="845518"/>
                  </a:cubicBezTo>
                  <a:lnTo>
                    <a:pt x="43625" y="845518"/>
                  </a:lnTo>
                  <a:cubicBezTo>
                    <a:pt x="19531" y="845518"/>
                    <a:pt x="0" y="825986"/>
                    <a:pt x="0" y="801893"/>
                  </a:cubicBezTo>
                  <a:lnTo>
                    <a:pt x="0" y="43625"/>
                  </a:lnTo>
                  <a:cubicBezTo>
                    <a:pt x="0" y="19531"/>
                    <a:pt x="19531" y="0"/>
                    <a:pt x="43625"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21" name="TextBox 21"/>
            <p:cNvSpPr txBox="1"/>
            <p:nvPr/>
          </p:nvSpPr>
          <p:spPr>
            <a:xfrm>
              <a:off x="0" y="-85725"/>
              <a:ext cx="1688563" cy="931243"/>
            </a:xfrm>
            <a:prstGeom prst="rect">
              <a:avLst/>
            </a:prstGeom>
          </p:spPr>
          <p:txBody>
            <a:bodyPr lIns="50800" tIns="50800" rIns="50800" bIns="50800" rtlCol="0" anchor="ctr"/>
            <a:lstStyle/>
            <a:p>
              <a:pPr algn="ctr">
                <a:lnSpc>
                  <a:spcPts val="3161"/>
                </a:lnSpc>
              </a:pPr>
              <a:endParaRPr/>
            </a:p>
          </p:txBody>
        </p:sp>
      </p:grpSp>
      <p:sp>
        <p:nvSpPr>
          <p:cNvPr id="22" name="Freeform 22"/>
          <p:cNvSpPr/>
          <p:nvPr/>
        </p:nvSpPr>
        <p:spPr>
          <a:xfrm rot="835706">
            <a:off x="21688229" y="-2535887"/>
            <a:ext cx="1890910" cy="3422462"/>
          </a:xfrm>
          <a:custGeom>
            <a:avLst/>
            <a:gdLst/>
            <a:ahLst/>
            <a:cxnLst/>
            <a:rect l="l" t="t" r="r" b="b"/>
            <a:pathLst>
              <a:path w="1890910" h="3422462">
                <a:moveTo>
                  <a:pt x="0" y="0"/>
                </a:moveTo>
                <a:lnTo>
                  <a:pt x="1890910" y="0"/>
                </a:lnTo>
                <a:lnTo>
                  <a:pt x="1890910" y="3422462"/>
                </a:lnTo>
                <a:lnTo>
                  <a:pt x="0" y="3422462"/>
                </a:lnTo>
                <a:lnTo>
                  <a:pt x="0" y="0"/>
                </a:lnTo>
                <a:close/>
              </a:path>
            </a:pathLst>
          </a:custGeom>
          <a:blipFill>
            <a:blip r:embed="rId8"/>
            <a:stretch>
              <a:fillRect/>
            </a:stretch>
          </a:blipFill>
        </p:spPr>
        <p:txBody>
          <a:bodyPr/>
          <a:lstStyle/>
          <a:p>
            <a:endParaRPr lang="ar-OM"/>
          </a:p>
        </p:txBody>
      </p:sp>
      <p:sp>
        <p:nvSpPr>
          <p:cNvPr id="23" name="Freeform 23"/>
          <p:cNvSpPr/>
          <p:nvPr/>
        </p:nvSpPr>
        <p:spPr>
          <a:xfrm rot="15474259">
            <a:off x="-8471616" y="699913"/>
            <a:ext cx="1269075" cy="1664361"/>
          </a:xfrm>
          <a:custGeom>
            <a:avLst/>
            <a:gdLst/>
            <a:ahLst/>
            <a:cxnLst/>
            <a:rect l="l" t="t" r="r" b="b"/>
            <a:pathLst>
              <a:path w="1269075" h="1664361">
                <a:moveTo>
                  <a:pt x="0" y="0"/>
                </a:moveTo>
                <a:lnTo>
                  <a:pt x="1269075" y="0"/>
                </a:lnTo>
                <a:lnTo>
                  <a:pt x="1269075" y="1664361"/>
                </a:lnTo>
                <a:lnTo>
                  <a:pt x="0" y="1664361"/>
                </a:lnTo>
                <a:lnTo>
                  <a:pt x="0" y="0"/>
                </a:lnTo>
                <a:close/>
              </a:path>
            </a:pathLst>
          </a:custGeom>
          <a:blipFill>
            <a:blip r:embed="rId9"/>
            <a:stretch>
              <a:fillRect/>
            </a:stretch>
          </a:blipFill>
        </p:spPr>
        <p:txBody>
          <a:bodyPr/>
          <a:lstStyle/>
          <a:p>
            <a:endParaRPr lang="ar-OM"/>
          </a:p>
        </p:txBody>
      </p:sp>
      <p:sp>
        <p:nvSpPr>
          <p:cNvPr id="24" name="Freeform 24"/>
          <p:cNvSpPr/>
          <p:nvPr/>
        </p:nvSpPr>
        <p:spPr>
          <a:xfrm rot="-5400000">
            <a:off x="-8575505" y="8608732"/>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5" name="Freeform 25"/>
          <p:cNvSpPr/>
          <p:nvPr/>
        </p:nvSpPr>
        <p:spPr>
          <a:xfrm rot="-5400000">
            <a:off x="-8575505" y="8344026"/>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6" name="Freeform 26"/>
          <p:cNvSpPr/>
          <p:nvPr/>
        </p:nvSpPr>
        <p:spPr>
          <a:xfrm rot="-5400000">
            <a:off x="-8575505" y="8079320"/>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7" name="Freeform 27"/>
          <p:cNvSpPr/>
          <p:nvPr/>
        </p:nvSpPr>
        <p:spPr>
          <a:xfrm rot="9138715">
            <a:off x="20728296" y="-2443422"/>
            <a:ext cx="3507262" cy="3507262"/>
          </a:xfrm>
          <a:custGeom>
            <a:avLst/>
            <a:gdLst/>
            <a:ahLst/>
            <a:cxnLst/>
            <a:rect l="l" t="t" r="r" b="b"/>
            <a:pathLst>
              <a:path w="3507262" h="3507262">
                <a:moveTo>
                  <a:pt x="0" y="0"/>
                </a:moveTo>
                <a:lnTo>
                  <a:pt x="3507262" y="0"/>
                </a:lnTo>
                <a:lnTo>
                  <a:pt x="3507262" y="3507262"/>
                </a:lnTo>
                <a:lnTo>
                  <a:pt x="0" y="3507262"/>
                </a:lnTo>
                <a:lnTo>
                  <a:pt x="0" y="0"/>
                </a:lnTo>
                <a:close/>
              </a:path>
            </a:pathLst>
          </a:custGeom>
          <a:blipFill>
            <a:blip r:embed="rId11"/>
            <a:stretch>
              <a:fillRect/>
            </a:stretch>
          </a:blipFill>
        </p:spPr>
        <p:txBody>
          <a:bodyPr/>
          <a:lstStyle/>
          <a:p>
            <a:endParaRPr lang="ar-OM"/>
          </a:p>
        </p:txBody>
      </p:sp>
      <p:sp>
        <p:nvSpPr>
          <p:cNvPr id="28" name="Freeform 28"/>
          <p:cNvSpPr/>
          <p:nvPr/>
        </p:nvSpPr>
        <p:spPr>
          <a:xfrm>
            <a:off x="6336327" y="1574600"/>
            <a:ext cx="5604191" cy="5477213"/>
          </a:xfrm>
          <a:custGeom>
            <a:avLst/>
            <a:gdLst/>
            <a:ahLst/>
            <a:cxnLst/>
            <a:rect l="l" t="t" r="r" b="b"/>
            <a:pathLst>
              <a:path w="4015610" h="4015610">
                <a:moveTo>
                  <a:pt x="0" y="0"/>
                </a:moveTo>
                <a:lnTo>
                  <a:pt x="4015610" y="0"/>
                </a:lnTo>
                <a:lnTo>
                  <a:pt x="4015610" y="4015610"/>
                </a:lnTo>
                <a:lnTo>
                  <a:pt x="0" y="4015610"/>
                </a:lnTo>
                <a:lnTo>
                  <a:pt x="0" y="0"/>
                </a:lnTo>
                <a:close/>
              </a:path>
            </a:pathLst>
          </a:custGeom>
          <a:blipFill>
            <a:blip r:embed="rId12"/>
            <a:stretch>
              <a:fillRect/>
            </a:stretch>
          </a:blipFill>
        </p:spPr>
        <p:txBody>
          <a:bodyPr/>
          <a:lstStyle/>
          <a:p>
            <a:endParaRPr lang="ar-OM"/>
          </a:p>
        </p:txBody>
      </p:sp>
      <p:sp>
        <p:nvSpPr>
          <p:cNvPr id="29" name="TextBox 29"/>
          <p:cNvSpPr txBox="1"/>
          <p:nvPr/>
        </p:nvSpPr>
        <p:spPr>
          <a:xfrm>
            <a:off x="4552510" y="6255142"/>
            <a:ext cx="9719423" cy="1383525"/>
          </a:xfrm>
          <a:prstGeom prst="rect">
            <a:avLst/>
          </a:prstGeom>
        </p:spPr>
        <p:txBody>
          <a:bodyPr lIns="0" tIns="0" rIns="0" bIns="0" rtlCol="0" anchor="t">
            <a:spAutoFit/>
          </a:bodyPr>
          <a:lstStyle/>
          <a:p>
            <a:pPr algn="ctr" rtl="1">
              <a:lnSpc>
                <a:spcPts val="10391"/>
              </a:lnSpc>
            </a:pPr>
            <a:r>
              <a:rPr lang="ar-EG" sz="7422" b="1" dirty="0">
                <a:solidFill>
                  <a:srgbClr val="FFFFFF"/>
                </a:solidFill>
                <a:latin typeface="GE SS Two Medium"/>
                <a:ea typeface="GE SS Two Medium"/>
                <a:cs typeface="GE SS Two Medium"/>
                <a:sym typeface="GE SS Two Medium"/>
                <a:rtl/>
              </a:rPr>
              <a:t>شجرة اللبان العُمانية</a:t>
            </a:r>
          </a:p>
        </p:txBody>
      </p:sp>
      <p:sp>
        <p:nvSpPr>
          <p:cNvPr id="30" name="TextBox 30"/>
          <p:cNvSpPr txBox="1"/>
          <p:nvPr/>
        </p:nvSpPr>
        <p:spPr>
          <a:xfrm>
            <a:off x="11225609" y="12573365"/>
            <a:ext cx="4038162" cy="2273628"/>
          </a:xfrm>
          <a:prstGeom prst="rect">
            <a:avLst/>
          </a:prstGeom>
        </p:spPr>
        <p:txBody>
          <a:bodyPr lIns="0" tIns="0" rIns="0" bIns="0" rtlCol="0" anchor="t">
            <a:spAutoFit/>
          </a:bodyPr>
          <a:lstStyle/>
          <a:p>
            <a:pPr algn="r" rtl="1">
              <a:lnSpc>
                <a:spcPts val="3796"/>
              </a:lnSpc>
            </a:pPr>
            <a:r>
              <a:rPr lang="ar-EG" sz="2712" dirty="0">
                <a:solidFill>
                  <a:srgbClr val="FFFFFF"/>
                </a:solidFill>
                <a:latin typeface="GE SS Two Medium"/>
                <a:ea typeface="GE SS Two Medium"/>
                <a:cs typeface="GE SS Two Medium"/>
                <a:sym typeface="GE SS Two Medium"/>
                <a:rtl/>
              </a:rPr>
              <a:t>إعداد الطالبات:</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عــلياء نايف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منى محمد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منى احمد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مريم سالم الكثيري</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روان أحمد الكثيري</a:t>
            </a:r>
          </a:p>
        </p:txBody>
      </p:sp>
      <p:sp>
        <p:nvSpPr>
          <p:cNvPr id="31" name="TextBox 31"/>
          <p:cNvSpPr txBox="1"/>
          <p:nvPr/>
        </p:nvSpPr>
        <p:spPr>
          <a:xfrm>
            <a:off x="5096034" y="7573654"/>
            <a:ext cx="8271891" cy="617846"/>
          </a:xfrm>
          <a:prstGeom prst="rect">
            <a:avLst/>
          </a:prstGeom>
        </p:spPr>
        <p:txBody>
          <a:bodyPr lIns="0" tIns="0" rIns="0" bIns="0" rtlCol="0" anchor="t">
            <a:spAutoFit/>
          </a:bodyPr>
          <a:lstStyle/>
          <a:p>
            <a:pPr algn="ctr" rtl="1">
              <a:lnSpc>
                <a:spcPts val="4685"/>
              </a:lnSpc>
            </a:pPr>
            <a:r>
              <a:rPr lang="ar-EG" sz="3346" b="1" dirty="0">
                <a:solidFill>
                  <a:srgbClr val="FFFFFF"/>
                </a:solidFill>
                <a:latin typeface="GE SS Two Medium"/>
                <a:ea typeface="GE SS Two Medium"/>
                <a:cs typeface="GE SS Two Medium"/>
                <a:sym typeface="GE SS Two Medium"/>
                <a:rtl/>
              </a:rPr>
              <a:t>من جذور الأرض إلى ذاكرة الحضارة</a:t>
            </a:r>
          </a:p>
        </p:txBody>
      </p:sp>
      <p:sp>
        <p:nvSpPr>
          <p:cNvPr id="32" name="Freeform 32"/>
          <p:cNvSpPr/>
          <p:nvPr/>
        </p:nvSpPr>
        <p:spPr>
          <a:xfrm rot="-8356997">
            <a:off x="-7311549" y="-1276405"/>
            <a:ext cx="1643388" cy="1643388"/>
          </a:xfrm>
          <a:custGeom>
            <a:avLst/>
            <a:gdLst/>
            <a:ahLst/>
            <a:cxnLst/>
            <a:rect l="l" t="t" r="r" b="b"/>
            <a:pathLst>
              <a:path w="1643388" h="1643388">
                <a:moveTo>
                  <a:pt x="0" y="0"/>
                </a:moveTo>
                <a:lnTo>
                  <a:pt x="1643388" y="0"/>
                </a:lnTo>
                <a:lnTo>
                  <a:pt x="1643388" y="1643388"/>
                </a:lnTo>
                <a:lnTo>
                  <a:pt x="0" y="1643388"/>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ar-OM"/>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a:extLst>
            <a:ext uri="{FF2B5EF4-FFF2-40B4-BE49-F238E27FC236}">
              <a16:creationId xmlns:a16="http://schemas.microsoft.com/office/drawing/2014/main" id="{59A42C10-70A2-3911-5E1D-625532A4EE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2319FC-E827-2941-A431-BD23082B568E}"/>
              </a:ext>
            </a:extLst>
          </p:cNvPr>
          <p:cNvSpPr/>
          <p:nvPr/>
        </p:nvSpPr>
        <p:spPr>
          <a:xfrm>
            <a:off x="-2571750" y="-3676584"/>
            <a:ext cx="24917400" cy="154887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3" name="Freeform 3">
            <a:extLst>
              <a:ext uri="{FF2B5EF4-FFF2-40B4-BE49-F238E27FC236}">
                <a16:creationId xmlns:a16="http://schemas.microsoft.com/office/drawing/2014/main" id="{F313791A-8D18-E583-DE2D-2598962DB8AE}"/>
              </a:ext>
            </a:extLst>
          </p:cNvPr>
          <p:cNvSpPr/>
          <p:nvPr/>
        </p:nvSpPr>
        <p:spPr>
          <a:xfrm>
            <a:off x="-2571750" y="-29342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4" name="Freeform 4">
            <a:extLst>
              <a:ext uri="{FF2B5EF4-FFF2-40B4-BE49-F238E27FC236}">
                <a16:creationId xmlns:a16="http://schemas.microsoft.com/office/drawing/2014/main" id="{0E25C669-DFD3-DFBF-4189-A55B86F3DCC2}"/>
              </a:ext>
            </a:extLst>
          </p:cNvPr>
          <p:cNvSpPr/>
          <p:nvPr/>
        </p:nvSpPr>
        <p:spPr>
          <a:xfrm>
            <a:off x="14636999" y="-1275244"/>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5" name="Freeform 5">
            <a:extLst>
              <a:ext uri="{FF2B5EF4-FFF2-40B4-BE49-F238E27FC236}">
                <a16:creationId xmlns:a16="http://schemas.microsoft.com/office/drawing/2014/main" id="{F900E071-DA74-DF6E-AA88-3D66B88DA2B2}"/>
              </a:ext>
            </a:extLst>
          </p:cNvPr>
          <p:cNvSpPr/>
          <p:nvPr/>
        </p:nvSpPr>
        <p:spPr>
          <a:xfrm>
            <a:off x="14367089" y="-3606173"/>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grpSp>
        <p:nvGrpSpPr>
          <p:cNvPr id="6" name="Group 6">
            <a:extLst>
              <a:ext uri="{FF2B5EF4-FFF2-40B4-BE49-F238E27FC236}">
                <a16:creationId xmlns:a16="http://schemas.microsoft.com/office/drawing/2014/main" id="{D9E0FA13-5552-BF17-CCA1-13EED064923E}"/>
              </a:ext>
            </a:extLst>
          </p:cNvPr>
          <p:cNvGrpSpPr/>
          <p:nvPr/>
        </p:nvGrpSpPr>
        <p:grpSpPr>
          <a:xfrm>
            <a:off x="-2057400" y="991297"/>
            <a:ext cx="2742994" cy="8267003"/>
            <a:chOff x="0" y="0"/>
            <a:chExt cx="722435" cy="2177318"/>
          </a:xfrm>
        </p:grpSpPr>
        <p:sp>
          <p:nvSpPr>
            <p:cNvPr id="7" name="Freeform 7">
              <a:extLst>
                <a:ext uri="{FF2B5EF4-FFF2-40B4-BE49-F238E27FC236}">
                  <a16:creationId xmlns:a16="http://schemas.microsoft.com/office/drawing/2014/main" id="{4BA134EB-A923-DA8D-B0BB-51A1080D58BD}"/>
                </a:ext>
              </a:extLst>
            </p:cNvPr>
            <p:cNvSpPr/>
            <p:nvPr/>
          </p:nvSpPr>
          <p:spPr>
            <a:xfrm>
              <a:off x="0" y="0"/>
              <a:ext cx="722435" cy="2177318"/>
            </a:xfrm>
            <a:custGeom>
              <a:avLst/>
              <a:gdLst/>
              <a:ahLst/>
              <a:cxnLst/>
              <a:rect l="l" t="t" r="r" b="b"/>
              <a:pathLst>
                <a:path w="722435" h="2177318">
                  <a:moveTo>
                    <a:pt x="282243" y="0"/>
                  </a:moveTo>
                  <a:lnTo>
                    <a:pt x="440191" y="0"/>
                  </a:lnTo>
                  <a:cubicBezTo>
                    <a:pt x="515047" y="0"/>
                    <a:pt x="586836" y="29736"/>
                    <a:pt x="639767" y="82667"/>
                  </a:cubicBezTo>
                  <a:cubicBezTo>
                    <a:pt x="692698" y="135598"/>
                    <a:pt x="722435" y="207388"/>
                    <a:pt x="722435" y="282243"/>
                  </a:cubicBezTo>
                  <a:lnTo>
                    <a:pt x="722435" y="1895074"/>
                  </a:lnTo>
                  <a:cubicBezTo>
                    <a:pt x="722435" y="1969930"/>
                    <a:pt x="692698" y="2041720"/>
                    <a:pt x="639767" y="2094650"/>
                  </a:cubicBezTo>
                  <a:cubicBezTo>
                    <a:pt x="586836" y="2147581"/>
                    <a:pt x="515047" y="2177318"/>
                    <a:pt x="440191" y="2177318"/>
                  </a:cubicBezTo>
                  <a:lnTo>
                    <a:pt x="282243" y="2177318"/>
                  </a:lnTo>
                  <a:cubicBezTo>
                    <a:pt x="126365" y="2177318"/>
                    <a:pt x="0" y="2050953"/>
                    <a:pt x="0" y="1895074"/>
                  </a:cubicBezTo>
                  <a:lnTo>
                    <a:pt x="0" y="282243"/>
                  </a:lnTo>
                  <a:cubicBezTo>
                    <a:pt x="0" y="207388"/>
                    <a:pt x="29736" y="135598"/>
                    <a:pt x="82667" y="82667"/>
                  </a:cubicBezTo>
                  <a:cubicBezTo>
                    <a:pt x="135598" y="29736"/>
                    <a:pt x="207388" y="0"/>
                    <a:pt x="282243"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8" name="TextBox 8">
              <a:extLst>
                <a:ext uri="{FF2B5EF4-FFF2-40B4-BE49-F238E27FC236}">
                  <a16:creationId xmlns:a16="http://schemas.microsoft.com/office/drawing/2014/main" id="{6BE2FC18-7EA3-068C-163A-2276F612C247}"/>
                </a:ext>
              </a:extLst>
            </p:cNvPr>
            <p:cNvSpPr txBox="1"/>
            <p:nvPr/>
          </p:nvSpPr>
          <p:spPr>
            <a:xfrm>
              <a:off x="0" y="-76200"/>
              <a:ext cx="722435" cy="2253518"/>
            </a:xfrm>
            <a:prstGeom prst="rect">
              <a:avLst/>
            </a:prstGeom>
          </p:spPr>
          <p:txBody>
            <a:bodyPr lIns="50800" tIns="50800" rIns="50800" bIns="50800" rtlCol="0" anchor="ctr"/>
            <a:lstStyle/>
            <a:p>
              <a:pPr algn="ctr">
                <a:lnSpc>
                  <a:spcPts val="2859"/>
                </a:lnSpc>
              </a:pPr>
              <a:endParaRPr/>
            </a:p>
          </p:txBody>
        </p:sp>
      </p:grpSp>
      <p:sp>
        <p:nvSpPr>
          <p:cNvPr id="9" name="AutoShape 9">
            <a:extLst>
              <a:ext uri="{FF2B5EF4-FFF2-40B4-BE49-F238E27FC236}">
                <a16:creationId xmlns:a16="http://schemas.microsoft.com/office/drawing/2014/main" id="{30F0A4C2-3B23-3DFA-F137-5E96B3252890}"/>
              </a:ext>
            </a:extLst>
          </p:cNvPr>
          <p:cNvSpPr/>
          <p:nvPr/>
        </p:nvSpPr>
        <p:spPr>
          <a:xfrm flipH="1" flipV="1">
            <a:off x="1901163" y="1072660"/>
            <a:ext cx="0" cy="8185640"/>
          </a:xfrm>
          <a:prstGeom prst="line">
            <a:avLst/>
          </a:prstGeom>
          <a:ln w="142875" cap="flat">
            <a:gradFill>
              <a:gsLst>
                <a:gs pos="0">
                  <a:srgbClr val="7A3E12">
                    <a:alpha val="100000"/>
                  </a:srgbClr>
                </a:gs>
                <a:gs pos="100000">
                  <a:srgbClr val="2F1B11">
                    <a:alpha val="100000"/>
                  </a:srgbClr>
                </a:gs>
              </a:gsLst>
              <a:lin ang="2700000"/>
            </a:gradFill>
            <a:prstDash val="solid"/>
            <a:headEnd type="none" w="sm" len="sm"/>
            <a:tailEnd type="none" w="sm" len="sm"/>
          </a:ln>
        </p:spPr>
        <p:txBody>
          <a:bodyPr/>
          <a:lstStyle/>
          <a:p>
            <a:endParaRPr lang="ar-OM"/>
          </a:p>
        </p:txBody>
      </p:sp>
      <p:grpSp>
        <p:nvGrpSpPr>
          <p:cNvPr id="10" name="Group 10">
            <a:extLst>
              <a:ext uri="{FF2B5EF4-FFF2-40B4-BE49-F238E27FC236}">
                <a16:creationId xmlns:a16="http://schemas.microsoft.com/office/drawing/2014/main" id="{E9BCE752-15E8-E7AE-AE92-2451CBDE1985}"/>
              </a:ext>
            </a:extLst>
          </p:cNvPr>
          <p:cNvGrpSpPr/>
          <p:nvPr/>
        </p:nvGrpSpPr>
        <p:grpSpPr>
          <a:xfrm>
            <a:off x="2220251" y="1072660"/>
            <a:ext cx="5594142" cy="8185640"/>
            <a:chOff x="0" y="0"/>
            <a:chExt cx="3995948" cy="5847080"/>
          </a:xfrm>
        </p:grpSpPr>
        <p:sp>
          <p:nvSpPr>
            <p:cNvPr id="11" name="Freeform 11">
              <a:extLst>
                <a:ext uri="{FF2B5EF4-FFF2-40B4-BE49-F238E27FC236}">
                  <a16:creationId xmlns:a16="http://schemas.microsoft.com/office/drawing/2014/main" id="{26507F42-7AA7-E109-6C9D-53415894E1CB}"/>
                </a:ext>
              </a:extLst>
            </p:cNvPr>
            <p:cNvSpPr/>
            <p:nvPr/>
          </p:nvSpPr>
          <p:spPr>
            <a:xfrm>
              <a:off x="0" y="0"/>
              <a:ext cx="3995948" cy="5847080"/>
            </a:xfrm>
            <a:custGeom>
              <a:avLst/>
              <a:gdLst/>
              <a:ahLst/>
              <a:cxnLst/>
              <a:rect l="l" t="t" r="r" b="b"/>
              <a:pathLst>
                <a:path w="3995948" h="5847080">
                  <a:moveTo>
                    <a:pt x="3995948" y="5847080"/>
                  </a:moveTo>
                  <a:lnTo>
                    <a:pt x="484809" y="5847080"/>
                  </a:lnTo>
                  <a:cubicBezTo>
                    <a:pt x="217056" y="5847080"/>
                    <a:pt x="0" y="5630023"/>
                    <a:pt x="0" y="5362271"/>
                  </a:cubicBezTo>
                  <a:lnTo>
                    <a:pt x="0" y="484809"/>
                  </a:lnTo>
                  <a:cubicBezTo>
                    <a:pt x="0" y="217056"/>
                    <a:pt x="217056" y="0"/>
                    <a:pt x="484809" y="0"/>
                  </a:cubicBezTo>
                  <a:lnTo>
                    <a:pt x="1796573" y="0"/>
                  </a:lnTo>
                  <a:cubicBezTo>
                    <a:pt x="3012111" y="0"/>
                    <a:pt x="3995948" y="702310"/>
                    <a:pt x="3995948" y="1567180"/>
                  </a:cubicBezTo>
                  <a:lnTo>
                    <a:pt x="3995948" y="5847080"/>
                  </a:lnTo>
                  <a:cubicBezTo>
                    <a:pt x="3995948" y="5847080"/>
                    <a:pt x="3995948" y="5847080"/>
                    <a:pt x="3995948" y="5847080"/>
                  </a:cubicBezTo>
                  <a:cubicBezTo>
                    <a:pt x="3995948" y="5847080"/>
                    <a:pt x="3995948" y="5847080"/>
                    <a:pt x="3995948" y="5847080"/>
                  </a:cubicBezTo>
                  <a:close/>
                </a:path>
              </a:pathLst>
            </a:custGeom>
            <a:blipFill>
              <a:blip r:embed="rId5"/>
              <a:stretch>
                <a:fillRect l="-39938" b="-12371"/>
              </a:stretch>
            </a:blipFill>
            <a:ln w="190500" cap="rnd">
              <a:solidFill>
                <a:srgbClr val="FFFFFF"/>
              </a:solidFill>
              <a:prstDash val="solid"/>
              <a:round/>
            </a:ln>
          </p:spPr>
          <p:txBody>
            <a:bodyPr/>
            <a:lstStyle/>
            <a:p>
              <a:endParaRPr lang="ar-OM"/>
            </a:p>
          </p:txBody>
        </p:sp>
      </p:grpSp>
      <p:grpSp>
        <p:nvGrpSpPr>
          <p:cNvPr id="12" name="Group 12">
            <a:extLst>
              <a:ext uri="{FF2B5EF4-FFF2-40B4-BE49-F238E27FC236}">
                <a16:creationId xmlns:a16="http://schemas.microsoft.com/office/drawing/2014/main" id="{BE57EF02-D4B7-0477-6D2C-A877834CC1C5}"/>
              </a:ext>
            </a:extLst>
          </p:cNvPr>
          <p:cNvGrpSpPr/>
          <p:nvPr/>
        </p:nvGrpSpPr>
        <p:grpSpPr>
          <a:xfrm>
            <a:off x="3887548" y="1182393"/>
            <a:ext cx="4641632" cy="3322807"/>
            <a:chOff x="0" y="0"/>
            <a:chExt cx="660400" cy="472761"/>
          </a:xfrm>
        </p:grpSpPr>
        <p:sp>
          <p:nvSpPr>
            <p:cNvPr id="13" name="Freeform 13">
              <a:extLst>
                <a:ext uri="{FF2B5EF4-FFF2-40B4-BE49-F238E27FC236}">
                  <a16:creationId xmlns:a16="http://schemas.microsoft.com/office/drawing/2014/main" id="{F7885DBD-0C0E-4486-9E16-2E57C07F2A8E}"/>
                </a:ext>
              </a:extLst>
            </p:cNvPr>
            <p:cNvSpPr/>
            <p:nvPr/>
          </p:nvSpPr>
          <p:spPr>
            <a:xfrm>
              <a:off x="0" y="0"/>
              <a:ext cx="660400" cy="472761"/>
            </a:xfrm>
            <a:custGeom>
              <a:avLst/>
              <a:gdLst/>
              <a:ahLst/>
              <a:cxnLst/>
              <a:rect l="l" t="t" r="r" b="b"/>
              <a:pathLst>
                <a:path w="660400" h="472761">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949"/>
                  </a:cubicBezTo>
                  <a:lnTo>
                    <a:pt x="660400" y="413132"/>
                  </a:lnTo>
                  <a:cubicBezTo>
                    <a:pt x="660400" y="446064"/>
                    <a:pt x="633703" y="472761"/>
                    <a:pt x="600771" y="472761"/>
                  </a:cubicBezTo>
                  <a:lnTo>
                    <a:pt x="59629" y="472761"/>
                  </a:lnTo>
                  <a:cubicBezTo>
                    <a:pt x="43814" y="472761"/>
                    <a:pt x="28647" y="466479"/>
                    <a:pt x="17465" y="455296"/>
                  </a:cubicBezTo>
                  <a:cubicBezTo>
                    <a:pt x="6282" y="444114"/>
                    <a:pt x="0" y="428947"/>
                    <a:pt x="0" y="413132"/>
                  </a:cubicBezTo>
                  <a:lnTo>
                    <a:pt x="0" y="321061"/>
                  </a:lnTo>
                  <a:cubicBezTo>
                    <a:pt x="1782" y="185660"/>
                    <a:pt x="93019" y="64045"/>
                    <a:pt x="220252" y="19070"/>
                  </a:cubicBezTo>
                  <a:lnTo>
                    <a:pt x="220252" y="19070"/>
                  </a:lnTo>
                  <a:close/>
                </a:path>
              </a:pathLst>
            </a:custGeom>
            <a:solidFill>
              <a:srgbClr val="006400"/>
            </a:solidFill>
            <a:ln cap="rnd">
              <a:noFill/>
              <a:prstDash val="solid"/>
              <a:round/>
            </a:ln>
          </p:spPr>
          <p:txBody>
            <a:bodyPr/>
            <a:lstStyle/>
            <a:p>
              <a:endParaRPr lang="ar-OM"/>
            </a:p>
          </p:txBody>
        </p:sp>
        <p:sp>
          <p:nvSpPr>
            <p:cNvPr id="14" name="TextBox 14">
              <a:extLst>
                <a:ext uri="{FF2B5EF4-FFF2-40B4-BE49-F238E27FC236}">
                  <a16:creationId xmlns:a16="http://schemas.microsoft.com/office/drawing/2014/main" id="{AB7DF18B-1177-E164-8A40-E93BE9FD4684}"/>
                </a:ext>
              </a:extLst>
            </p:cNvPr>
            <p:cNvSpPr txBox="1"/>
            <p:nvPr/>
          </p:nvSpPr>
          <p:spPr>
            <a:xfrm>
              <a:off x="0" y="41275"/>
              <a:ext cx="660400" cy="431486"/>
            </a:xfrm>
            <a:prstGeom prst="rect">
              <a:avLst/>
            </a:prstGeom>
          </p:spPr>
          <p:txBody>
            <a:bodyPr lIns="50800" tIns="50800" rIns="50800" bIns="50800" rtlCol="0" anchor="ctr"/>
            <a:lstStyle/>
            <a:p>
              <a:pPr algn="ctr">
                <a:lnSpc>
                  <a:spcPts val="3161"/>
                </a:lnSpc>
              </a:pPr>
              <a:endParaRPr/>
            </a:p>
          </p:txBody>
        </p:sp>
      </p:grpSp>
      <p:sp>
        <p:nvSpPr>
          <p:cNvPr id="15" name="Freeform 15">
            <a:extLst>
              <a:ext uri="{FF2B5EF4-FFF2-40B4-BE49-F238E27FC236}">
                <a16:creationId xmlns:a16="http://schemas.microsoft.com/office/drawing/2014/main" id="{7FE4FFAB-6E93-959E-CB8A-576D5E589274}"/>
              </a:ext>
            </a:extLst>
          </p:cNvPr>
          <p:cNvSpPr/>
          <p:nvPr/>
        </p:nvSpPr>
        <p:spPr>
          <a:xfrm>
            <a:off x="3831010" y="1217373"/>
            <a:ext cx="4754708" cy="4754708"/>
          </a:xfrm>
          <a:custGeom>
            <a:avLst/>
            <a:gdLst/>
            <a:ahLst/>
            <a:cxnLst/>
            <a:rect l="l" t="t" r="r" b="b"/>
            <a:pathLst>
              <a:path w="4754708" h="4754708">
                <a:moveTo>
                  <a:pt x="0" y="0"/>
                </a:moveTo>
                <a:lnTo>
                  <a:pt x="4754708" y="0"/>
                </a:lnTo>
                <a:lnTo>
                  <a:pt x="4754708" y="4754708"/>
                </a:lnTo>
                <a:lnTo>
                  <a:pt x="0" y="4754708"/>
                </a:lnTo>
                <a:lnTo>
                  <a:pt x="0" y="0"/>
                </a:lnTo>
                <a:close/>
              </a:path>
            </a:pathLst>
          </a:custGeom>
          <a:blipFill>
            <a:blip r:embed="rId6"/>
            <a:stretch>
              <a:fillRect/>
            </a:stretch>
          </a:blipFill>
        </p:spPr>
        <p:txBody>
          <a:bodyPr/>
          <a:lstStyle/>
          <a:p>
            <a:endParaRPr lang="ar-OM"/>
          </a:p>
        </p:txBody>
      </p:sp>
      <p:grpSp>
        <p:nvGrpSpPr>
          <p:cNvPr id="16" name="Group 16">
            <a:extLst>
              <a:ext uri="{FF2B5EF4-FFF2-40B4-BE49-F238E27FC236}">
                <a16:creationId xmlns:a16="http://schemas.microsoft.com/office/drawing/2014/main" id="{C17D6C10-3C3A-FB7C-8499-00B76AEE36DC}"/>
              </a:ext>
            </a:extLst>
          </p:cNvPr>
          <p:cNvGrpSpPr/>
          <p:nvPr/>
        </p:nvGrpSpPr>
        <p:grpSpPr>
          <a:xfrm>
            <a:off x="4416262" y="1802625"/>
            <a:ext cx="3584205" cy="3584205"/>
            <a:chOff x="0" y="0"/>
            <a:chExt cx="812800" cy="812800"/>
          </a:xfrm>
        </p:grpSpPr>
        <p:sp>
          <p:nvSpPr>
            <p:cNvPr id="17" name="Freeform 17">
              <a:extLst>
                <a:ext uri="{FF2B5EF4-FFF2-40B4-BE49-F238E27FC236}">
                  <a16:creationId xmlns:a16="http://schemas.microsoft.com/office/drawing/2014/main" id="{7516FFC8-DD9B-DFB6-5FEC-C54188FF9E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8" r="-25048"/>
              </a:stretch>
            </a:blipFill>
            <a:ln cap="sq">
              <a:noFill/>
              <a:prstDash val="solid"/>
              <a:miter/>
            </a:ln>
          </p:spPr>
          <p:txBody>
            <a:bodyPr/>
            <a:lstStyle/>
            <a:p>
              <a:endParaRPr lang="ar-OM"/>
            </a:p>
          </p:txBody>
        </p:sp>
      </p:grpSp>
      <p:sp>
        <p:nvSpPr>
          <p:cNvPr id="18" name="AutoShape 18">
            <a:extLst>
              <a:ext uri="{FF2B5EF4-FFF2-40B4-BE49-F238E27FC236}">
                <a16:creationId xmlns:a16="http://schemas.microsoft.com/office/drawing/2014/main" id="{FD0E5704-8B20-965C-2126-CE3E1DD6E7A1}"/>
              </a:ext>
            </a:extLst>
          </p:cNvPr>
          <p:cNvSpPr/>
          <p:nvPr/>
        </p:nvSpPr>
        <p:spPr>
          <a:xfrm flipV="1">
            <a:off x="1451278" y="3241670"/>
            <a:ext cx="0" cy="3444880"/>
          </a:xfrm>
          <a:prstGeom prst="line">
            <a:avLst/>
          </a:prstGeom>
          <a:ln w="95250" cap="flat">
            <a:solidFill>
              <a:srgbClr val="FFFFFF"/>
            </a:solidFill>
            <a:prstDash val="solid"/>
            <a:headEnd type="none" w="sm" len="sm"/>
            <a:tailEnd type="none" w="sm" len="sm"/>
          </a:ln>
        </p:spPr>
        <p:txBody>
          <a:bodyPr/>
          <a:lstStyle/>
          <a:p>
            <a:endParaRPr lang="ar-OM"/>
          </a:p>
        </p:txBody>
      </p:sp>
      <p:grpSp>
        <p:nvGrpSpPr>
          <p:cNvPr id="19" name="Group 19">
            <a:extLst>
              <a:ext uri="{FF2B5EF4-FFF2-40B4-BE49-F238E27FC236}">
                <a16:creationId xmlns:a16="http://schemas.microsoft.com/office/drawing/2014/main" id="{4155AEBF-CBD3-DD0A-7537-2BF823D40C49}"/>
              </a:ext>
            </a:extLst>
          </p:cNvPr>
          <p:cNvGrpSpPr/>
          <p:nvPr/>
        </p:nvGrpSpPr>
        <p:grpSpPr>
          <a:xfrm>
            <a:off x="10498428" y="6516206"/>
            <a:ext cx="5323992" cy="2665894"/>
            <a:chOff x="0" y="0"/>
            <a:chExt cx="1688563" cy="845518"/>
          </a:xfrm>
        </p:grpSpPr>
        <p:sp>
          <p:nvSpPr>
            <p:cNvPr id="20" name="Freeform 20">
              <a:extLst>
                <a:ext uri="{FF2B5EF4-FFF2-40B4-BE49-F238E27FC236}">
                  <a16:creationId xmlns:a16="http://schemas.microsoft.com/office/drawing/2014/main" id="{7E17FDCA-7E93-6216-CB28-C42ABAB698FF}"/>
                </a:ext>
              </a:extLst>
            </p:cNvPr>
            <p:cNvSpPr/>
            <p:nvPr/>
          </p:nvSpPr>
          <p:spPr>
            <a:xfrm>
              <a:off x="0" y="0"/>
              <a:ext cx="1688563" cy="845518"/>
            </a:xfrm>
            <a:custGeom>
              <a:avLst/>
              <a:gdLst/>
              <a:ahLst/>
              <a:cxnLst/>
              <a:rect l="l" t="t" r="r" b="b"/>
              <a:pathLst>
                <a:path w="1688563" h="845518">
                  <a:moveTo>
                    <a:pt x="43625" y="0"/>
                  </a:moveTo>
                  <a:lnTo>
                    <a:pt x="1644939" y="0"/>
                  </a:lnTo>
                  <a:cubicBezTo>
                    <a:pt x="1669032" y="0"/>
                    <a:pt x="1688563" y="19531"/>
                    <a:pt x="1688563" y="43625"/>
                  </a:cubicBezTo>
                  <a:lnTo>
                    <a:pt x="1688563" y="801893"/>
                  </a:lnTo>
                  <a:cubicBezTo>
                    <a:pt x="1688563" y="825986"/>
                    <a:pt x="1669032" y="845518"/>
                    <a:pt x="1644939" y="845518"/>
                  </a:cubicBezTo>
                  <a:lnTo>
                    <a:pt x="43625" y="845518"/>
                  </a:lnTo>
                  <a:cubicBezTo>
                    <a:pt x="19531" y="845518"/>
                    <a:pt x="0" y="825986"/>
                    <a:pt x="0" y="801893"/>
                  </a:cubicBezTo>
                  <a:lnTo>
                    <a:pt x="0" y="43625"/>
                  </a:lnTo>
                  <a:cubicBezTo>
                    <a:pt x="0" y="19531"/>
                    <a:pt x="19531" y="0"/>
                    <a:pt x="43625"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21" name="TextBox 21">
              <a:extLst>
                <a:ext uri="{FF2B5EF4-FFF2-40B4-BE49-F238E27FC236}">
                  <a16:creationId xmlns:a16="http://schemas.microsoft.com/office/drawing/2014/main" id="{7FA5555B-6F40-FF06-2A7E-756AC4B0EECF}"/>
                </a:ext>
              </a:extLst>
            </p:cNvPr>
            <p:cNvSpPr txBox="1"/>
            <p:nvPr/>
          </p:nvSpPr>
          <p:spPr>
            <a:xfrm>
              <a:off x="0" y="-85725"/>
              <a:ext cx="1688563" cy="931243"/>
            </a:xfrm>
            <a:prstGeom prst="rect">
              <a:avLst/>
            </a:prstGeom>
          </p:spPr>
          <p:txBody>
            <a:bodyPr lIns="50800" tIns="50800" rIns="50800" bIns="50800" rtlCol="0" anchor="ctr"/>
            <a:lstStyle/>
            <a:p>
              <a:pPr algn="ctr">
                <a:lnSpc>
                  <a:spcPts val="3161"/>
                </a:lnSpc>
              </a:pPr>
              <a:endParaRPr/>
            </a:p>
          </p:txBody>
        </p:sp>
      </p:grpSp>
      <p:sp>
        <p:nvSpPr>
          <p:cNvPr id="22" name="Freeform 22">
            <a:extLst>
              <a:ext uri="{FF2B5EF4-FFF2-40B4-BE49-F238E27FC236}">
                <a16:creationId xmlns:a16="http://schemas.microsoft.com/office/drawing/2014/main" id="{53FA75F0-21F6-2B2F-19D8-D6FCA3DB5A43}"/>
              </a:ext>
            </a:extLst>
          </p:cNvPr>
          <p:cNvSpPr/>
          <p:nvPr/>
        </p:nvSpPr>
        <p:spPr>
          <a:xfrm rot="835706">
            <a:off x="16269833" y="-131183"/>
            <a:ext cx="1890910" cy="3422462"/>
          </a:xfrm>
          <a:custGeom>
            <a:avLst/>
            <a:gdLst/>
            <a:ahLst/>
            <a:cxnLst/>
            <a:rect l="l" t="t" r="r" b="b"/>
            <a:pathLst>
              <a:path w="1890910" h="3422462">
                <a:moveTo>
                  <a:pt x="0" y="0"/>
                </a:moveTo>
                <a:lnTo>
                  <a:pt x="1890910" y="0"/>
                </a:lnTo>
                <a:lnTo>
                  <a:pt x="1890910" y="3422462"/>
                </a:lnTo>
                <a:lnTo>
                  <a:pt x="0" y="3422462"/>
                </a:lnTo>
                <a:lnTo>
                  <a:pt x="0" y="0"/>
                </a:lnTo>
                <a:close/>
              </a:path>
            </a:pathLst>
          </a:custGeom>
          <a:blipFill>
            <a:blip r:embed="rId8"/>
            <a:stretch>
              <a:fillRect/>
            </a:stretch>
          </a:blipFill>
        </p:spPr>
        <p:txBody>
          <a:bodyPr/>
          <a:lstStyle/>
          <a:p>
            <a:endParaRPr lang="ar-OM"/>
          </a:p>
        </p:txBody>
      </p:sp>
      <p:sp>
        <p:nvSpPr>
          <p:cNvPr id="23" name="Freeform 23">
            <a:extLst>
              <a:ext uri="{FF2B5EF4-FFF2-40B4-BE49-F238E27FC236}">
                <a16:creationId xmlns:a16="http://schemas.microsoft.com/office/drawing/2014/main" id="{8CF4BDEE-73A6-FD1A-BCBC-E0970ED0D68E}"/>
              </a:ext>
            </a:extLst>
          </p:cNvPr>
          <p:cNvSpPr/>
          <p:nvPr/>
        </p:nvSpPr>
        <p:spPr>
          <a:xfrm rot="-2167321">
            <a:off x="1397295" y="901869"/>
            <a:ext cx="1269075" cy="1664361"/>
          </a:xfrm>
          <a:custGeom>
            <a:avLst/>
            <a:gdLst/>
            <a:ahLst/>
            <a:cxnLst/>
            <a:rect l="l" t="t" r="r" b="b"/>
            <a:pathLst>
              <a:path w="1269075" h="1664361">
                <a:moveTo>
                  <a:pt x="0" y="0"/>
                </a:moveTo>
                <a:lnTo>
                  <a:pt x="1269075" y="0"/>
                </a:lnTo>
                <a:lnTo>
                  <a:pt x="1269075" y="1664361"/>
                </a:lnTo>
                <a:lnTo>
                  <a:pt x="0" y="1664361"/>
                </a:lnTo>
                <a:lnTo>
                  <a:pt x="0" y="0"/>
                </a:lnTo>
                <a:close/>
              </a:path>
            </a:pathLst>
          </a:custGeom>
          <a:blipFill>
            <a:blip r:embed="rId9"/>
            <a:stretch>
              <a:fillRect/>
            </a:stretch>
          </a:blipFill>
        </p:spPr>
        <p:txBody>
          <a:bodyPr/>
          <a:lstStyle/>
          <a:p>
            <a:endParaRPr lang="ar-OM"/>
          </a:p>
        </p:txBody>
      </p:sp>
      <p:sp>
        <p:nvSpPr>
          <p:cNvPr id="24" name="Freeform 24">
            <a:extLst>
              <a:ext uri="{FF2B5EF4-FFF2-40B4-BE49-F238E27FC236}">
                <a16:creationId xmlns:a16="http://schemas.microsoft.com/office/drawing/2014/main" id="{E8FF3443-F240-64A8-C30F-BD3AB2811F60}"/>
              </a:ext>
            </a:extLst>
          </p:cNvPr>
          <p:cNvSpPr/>
          <p:nvPr/>
        </p:nvSpPr>
        <p:spPr>
          <a:xfrm rot="-5400000">
            <a:off x="1293406" y="8810688"/>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5" name="Freeform 25">
            <a:extLst>
              <a:ext uri="{FF2B5EF4-FFF2-40B4-BE49-F238E27FC236}">
                <a16:creationId xmlns:a16="http://schemas.microsoft.com/office/drawing/2014/main" id="{AD7240CE-9B02-913E-1D21-44BF4646FA0B}"/>
              </a:ext>
            </a:extLst>
          </p:cNvPr>
          <p:cNvSpPr/>
          <p:nvPr/>
        </p:nvSpPr>
        <p:spPr>
          <a:xfrm rot="-5400000">
            <a:off x="1293406" y="8545982"/>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6" name="Freeform 26">
            <a:extLst>
              <a:ext uri="{FF2B5EF4-FFF2-40B4-BE49-F238E27FC236}">
                <a16:creationId xmlns:a16="http://schemas.microsoft.com/office/drawing/2014/main" id="{21F26AB7-2159-C10C-6C30-3CC0166B825C}"/>
              </a:ext>
            </a:extLst>
          </p:cNvPr>
          <p:cNvSpPr/>
          <p:nvPr/>
        </p:nvSpPr>
        <p:spPr>
          <a:xfrm rot="-5400000">
            <a:off x="1293406" y="8281276"/>
            <a:ext cx="158434" cy="157311"/>
          </a:xfrm>
          <a:custGeom>
            <a:avLst/>
            <a:gdLst/>
            <a:ahLst/>
            <a:cxnLst/>
            <a:rect l="l" t="t" r="r" b="b"/>
            <a:pathLst>
              <a:path w="158434" h="157311">
                <a:moveTo>
                  <a:pt x="0" y="0"/>
                </a:moveTo>
                <a:lnTo>
                  <a:pt x="158434" y="0"/>
                </a:lnTo>
                <a:lnTo>
                  <a:pt x="158434" y="157311"/>
                </a:lnTo>
                <a:lnTo>
                  <a:pt x="0" y="157311"/>
                </a:lnTo>
                <a:lnTo>
                  <a:pt x="0" y="0"/>
                </a:lnTo>
                <a:close/>
              </a:path>
            </a:pathLst>
          </a:custGeom>
          <a:blipFill>
            <a:blip>
              <a:extLst>
                <a:ext uri="{96DAC541-7B7A-43D3-8B79-37D633B846F1}">
                  <asvg:svgBlip xmlns:asvg="http://schemas.microsoft.com/office/drawing/2016/SVG/main" r:embed="rId10"/>
                </a:ext>
              </a:extLst>
            </a:blip>
            <a:stretch>
              <a:fillRect r="-2033186" b="-1304526"/>
            </a:stretch>
          </a:blipFill>
        </p:spPr>
        <p:txBody>
          <a:bodyPr/>
          <a:lstStyle/>
          <a:p>
            <a:endParaRPr lang="ar-OM"/>
          </a:p>
        </p:txBody>
      </p:sp>
      <p:sp>
        <p:nvSpPr>
          <p:cNvPr id="27" name="Freeform 27">
            <a:extLst>
              <a:ext uri="{FF2B5EF4-FFF2-40B4-BE49-F238E27FC236}">
                <a16:creationId xmlns:a16="http://schemas.microsoft.com/office/drawing/2014/main" id="{A1B9C8B6-CC41-EBBA-4BAC-25F9F3AED156}"/>
              </a:ext>
            </a:extLst>
          </p:cNvPr>
          <p:cNvSpPr/>
          <p:nvPr/>
        </p:nvSpPr>
        <p:spPr>
          <a:xfrm>
            <a:off x="15309900" y="-38718"/>
            <a:ext cx="3507262" cy="3507262"/>
          </a:xfrm>
          <a:custGeom>
            <a:avLst/>
            <a:gdLst/>
            <a:ahLst/>
            <a:cxnLst/>
            <a:rect l="l" t="t" r="r" b="b"/>
            <a:pathLst>
              <a:path w="3507262" h="3507262">
                <a:moveTo>
                  <a:pt x="0" y="0"/>
                </a:moveTo>
                <a:lnTo>
                  <a:pt x="3507262" y="0"/>
                </a:lnTo>
                <a:lnTo>
                  <a:pt x="3507262" y="3507262"/>
                </a:lnTo>
                <a:lnTo>
                  <a:pt x="0" y="3507262"/>
                </a:lnTo>
                <a:lnTo>
                  <a:pt x="0" y="0"/>
                </a:lnTo>
                <a:close/>
              </a:path>
            </a:pathLst>
          </a:custGeom>
          <a:blipFill>
            <a:blip r:embed="rId11"/>
            <a:stretch>
              <a:fillRect/>
            </a:stretch>
          </a:blipFill>
        </p:spPr>
        <p:txBody>
          <a:bodyPr/>
          <a:lstStyle/>
          <a:p>
            <a:endParaRPr lang="ar-OM"/>
          </a:p>
        </p:txBody>
      </p:sp>
      <p:sp>
        <p:nvSpPr>
          <p:cNvPr id="28" name="Freeform 28">
            <a:extLst>
              <a:ext uri="{FF2B5EF4-FFF2-40B4-BE49-F238E27FC236}">
                <a16:creationId xmlns:a16="http://schemas.microsoft.com/office/drawing/2014/main" id="{CEF30552-7F43-F4A5-883A-9FEA69A2D2DF}"/>
              </a:ext>
            </a:extLst>
          </p:cNvPr>
          <p:cNvSpPr/>
          <p:nvPr/>
        </p:nvSpPr>
        <p:spPr>
          <a:xfrm>
            <a:off x="-106642" y="6802321"/>
            <a:ext cx="4015610" cy="4015610"/>
          </a:xfrm>
          <a:custGeom>
            <a:avLst/>
            <a:gdLst/>
            <a:ahLst/>
            <a:cxnLst/>
            <a:rect l="l" t="t" r="r" b="b"/>
            <a:pathLst>
              <a:path w="4015610" h="4015610">
                <a:moveTo>
                  <a:pt x="0" y="0"/>
                </a:moveTo>
                <a:lnTo>
                  <a:pt x="4015610" y="0"/>
                </a:lnTo>
                <a:lnTo>
                  <a:pt x="4015610" y="4015610"/>
                </a:lnTo>
                <a:lnTo>
                  <a:pt x="0" y="4015610"/>
                </a:lnTo>
                <a:lnTo>
                  <a:pt x="0" y="0"/>
                </a:lnTo>
                <a:close/>
              </a:path>
            </a:pathLst>
          </a:custGeom>
          <a:blipFill>
            <a:blip r:embed="rId12"/>
            <a:stretch>
              <a:fillRect/>
            </a:stretch>
          </a:blipFill>
        </p:spPr>
        <p:txBody>
          <a:bodyPr/>
          <a:lstStyle/>
          <a:p>
            <a:endParaRPr lang="ar-OM"/>
          </a:p>
        </p:txBody>
      </p:sp>
      <p:sp>
        <p:nvSpPr>
          <p:cNvPr id="29" name="TextBox 29">
            <a:extLst>
              <a:ext uri="{FF2B5EF4-FFF2-40B4-BE49-F238E27FC236}">
                <a16:creationId xmlns:a16="http://schemas.microsoft.com/office/drawing/2014/main" id="{FEE50088-C7FA-C662-61C4-B9CA93FC234B}"/>
              </a:ext>
            </a:extLst>
          </p:cNvPr>
          <p:cNvSpPr txBox="1"/>
          <p:nvPr/>
        </p:nvSpPr>
        <p:spPr>
          <a:xfrm>
            <a:off x="8248116" y="4067798"/>
            <a:ext cx="9719423" cy="1383525"/>
          </a:xfrm>
          <a:prstGeom prst="rect">
            <a:avLst/>
          </a:prstGeom>
        </p:spPr>
        <p:txBody>
          <a:bodyPr lIns="0" tIns="0" rIns="0" bIns="0" rtlCol="0" anchor="t">
            <a:spAutoFit/>
          </a:bodyPr>
          <a:lstStyle/>
          <a:p>
            <a:pPr algn="ctr" rtl="1">
              <a:lnSpc>
                <a:spcPts val="10391"/>
              </a:lnSpc>
            </a:pPr>
            <a:r>
              <a:rPr lang="ar-EG" sz="7422" b="1" dirty="0">
                <a:solidFill>
                  <a:srgbClr val="FFFFFF"/>
                </a:solidFill>
                <a:latin typeface="GE SS Two Medium"/>
                <a:ea typeface="GE SS Two Medium"/>
                <a:cs typeface="GE SS Two Medium"/>
                <a:sym typeface="GE SS Two Medium"/>
                <a:rtl/>
              </a:rPr>
              <a:t>شجرة اللبان العُمانية</a:t>
            </a:r>
          </a:p>
        </p:txBody>
      </p:sp>
      <p:sp>
        <p:nvSpPr>
          <p:cNvPr id="30" name="TextBox 30">
            <a:extLst>
              <a:ext uri="{FF2B5EF4-FFF2-40B4-BE49-F238E27FC236}">
                <a16:creationId xmlns:a16="http://schemas.microsoft.com/office/drawing/2014/main" id="{F73AE77E-7C26-4751-4A2D-18C98C595AEC}"/>
              </a:ext>
            </a:extLst>
          </p:cNvPr>
          <p:cNvSpPr txBox="1"/>
          <p:nvPr/>
        </p:nvSpPr>
        <p:spPr>
          <a:xfrm>
            <a:off x="10598837" y="6630871"/>
            <a:ext cx="4038162" cy="2273628"/>
          </a:xfrm>
          <a:prstGeom prst="rect">
            <a:avLst/>
          </a:prstGeom>
        </p:spPr>
        <p:txBody>
          <a:bodyPr lIns="0" tIns="0" rIns="0" bIns="0" rtlCol="0" anchor="t">
            <a:spAutoFit/>
          </a:bodyPr>
          <a:lstStyle/>
          <a:p>
            <a:pPr algn="r" rtl="1">
              <a:lnSpc>
                <a:spcPts val="3796"/>
              </a:lnSpc>
            </a:pPr>
            <a:r>
              <a:rPr lang="ar-EG" sz="2712" dirty="0">
                <a:solidFill>
                  <a:srgbClr val="FFFFFF"/>
                </a:solidFill>
                <a:latin typeface="GE SS Two Medium"/>
                <a:ea typeface="GE SS Two Medium"/>
                <a:cs typeface="GE SS Two Medium"/>
                <a:sym typeface="GE SS Two Medium"/>
                <a:rtl/>
              </a:rPr>
              <a:t>إعداد الطالبات:</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عــلياء نايف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منى محمد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منى احمد الكثيري </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مريم سالم الكثيري</a:t>
            </a:r>
          </a:p>
          <a:p>
            <a:pPr marL="434416" lvl="1" indent="-217208" algn="r" rtl="1">
              <a:lnSpc>
                <a:spcPts val="2816"/>
              </a:lnSpc>
              <a:buFont typeface="Arial"/>
              <a:buChar char="•"/>
            </a:pPr>
            <a:r>
              <a:rPr lang="ar-EG" sz="2012" dirty="0">
                <a:solidFill>
                  <a:srgbClr val="FFFFFF"/>
                </a:solidFill>
                <a:latin typeface="GE SS Two Medium"/>
                <a:ea typeface="GE SS Two Medium"/>
                <a:cs typeface="GE SS Two Medium"/>
                <a:sym typeface="GE SS Two Medium"/>
                <a:rtl/>
              </a:rPr>
              <a:t>روان أحمد الكثيري</a:t>
            </a:r>
          </a:p>
        </p:txBody>
      </p:sp>
      <p:sp>
        <p:nvSpPr>
          <p:cNvPr id="31" name="TextBox 31">
            <a:extLst>
              <a:ext uri="{FF2B5EF4-FFF2-40B4-BE49-F238E27FC236}">
                <a16:creationId xmlns:a16="http://schemas.microsoft.com/office/drawing/2014/main" id="{2AA8C6E4-7AE1-2A70-E413-B29CAC4E7611}"/>
              </a:ext>
            </a:extLst>
          </p:cNvPr>
          <p:cNvSpPr txBox="1"/>
          <p:nvPr/>
        </p:nvSpPr>
        <p:spPr>
          <a:xfrm>
            <a:off x="8791640" y="5386310"/>
            <a:ext cx="8271891" cy="617846"/>
          </a:xfrm>
          <a:prstGeom prst="rect">
            <a:avLst/>
          </a:prstGeom>
        </p:spPr>
        <p:txBody>
          <a:bodyPr lIns="0" tIns="0" rIns="0" bIns="0" rtlCol="0" anchor="t">
            <a:spAutoFit/>
          </a:bodyPr>
          <a:lstStyle/>
          <a:p>
            <a:pPr algn="ctr" rtl="1">
              <a:lnSpc>
                <a:spcPts val="4685"/>
              </a:lnSpc>
            </a:pPr>
            <a:r>
              <a:rPr lang="ar-EG" sz="3346" b="1" dirty="0">
                <a:solidFill>
                  <a:srgbClr val="FFFFFF"/>
                </a:solidFill>
                <a:latin typeface="GE SS Two Medium"/>
                <a:ea typeface="GE SS Two Medium"/>
                <a:cs typeface="GE SS Two Medium"/>
                <a:sym typeface="GE SS Two Medium"/>
                <a:rtl/>
              </a:rPr>
              <a:t>من جذور الأرض إلى ذاكرة الحضارة</a:t>
            </a:r>
          </a:p>
        </p:txBody>
      </p:sp>
      <p:sp>
        <p:nvSpPr>
          <p:cNvPr id="32" name="Freeform 32">
            <a:extLst>
              <a:ext uri="{FF2B5EF4-FFF2-40B4-BE49-F238E27FC236}">
                <a16:creationId xmlns:a16="http://schemas.microsoft.com/office/drawing/2014/main" id="{501B0A02-32DA-E41D-2FCE-749352A9C180}"/>
              </a:ext>
            </a:extLst>
          </p:cNvPr>
          <p:cNvSpPr/>
          <p:nvPr/>
        </p:nvSpPr>
        <p:spPr>
          <a:xfrm rot="-8356997">
            <a:off x="2557362" y="-1074449"/>
            <a:ext cx="1643388" cy="1643388"/>
          </a:xfrm>
          <a:custGeom>
            <a:avLst/>
            <a:gdLst/>
            <a:ahLst/>
            <a:cxnLst/>
            <a:rect l="l" t="t" r="r" b="b"/>
            <a:pathLst>
              <a:path w="1643388" h="1643388">
                <a:moveTo>
                  <a:pt x="0" y="0"/>
                </a:moveTo>
                <a:lnTo>
                  <a:pt x="1643388" y="0"/>
                </a:lnTo>
                <a:lnTo>
                  <a:pt x="1643388" y="1643388"/>
                </a:lnTo>
                <a:lnTo>
                  <a:pt x="0" y="1643388"/>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ar-OM"/>
          </a:p>
        </p:txBody>
      </p:sp>
    </p:spTree>
    <p:extLst>
      <p:ext uri="{BB962C8B-B14F-4D97-AF65-F5344CB8AC3E}">
        <p14:creationId xmlns:p14="http://schemas.microsoft.com/office/powerpoint/2010/main" val="2299263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16" name="Freeform 2">
            <a:extLst>
              <a:ext uri="{FF2B5EF4-FFF2-40B4-BE49-F238E27FC236}">
                <a16:creationId xmlns:a16="http://schemas.microsoft.com/office/drawing/2014/main" id="{F857C846-09C2-9462-79D2-6FDA0456D2BE}"/>
              </a:ext>
            </a:extLst>
          </p:cNvPr>
          <p:cNvSpPr/>
          <p:nvPr/>
        </p:nvSpPr>
        <p:spPr>
          <a:xfrm>
            <a:off x="-1205844" y="-2054467"/>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a:off x="-2945559" y="-25717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2534296" y="3026435"/>
            <a:ext cx="3981375" cy="3981375"/>
          </a:xfrm>
          <a:custGeom>
            <a:avLst/>
            <a:gdLst/>
            <a:ahLst/>
            <a:cxnLst/>
            <a:rect l="l" t="t" r="r" b="b"/>
            <a:pathLst>
              <a:path w="3981375" h="3981375">
                <a:moveTo>
                  <a:pt x="0" y="0"/>
                </a:moveTo>
                <a:lnTo>
                  <a:pt x="3981375" y="0"/>
                </a:lnTo>
                <a:lnTo>
                  <a:pt x="3981375" y="3981375"/>
                </a:lnTo>
                <a:lnTo>
                  <a:pt x="0" y="39813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4" name="Freeform 4"/>
          <p:cNvSpPr/>
          <p:nvPr/>
        </p:nvSpPr>
        <p:spPr>
          <a:xfrm>
            <a:off x="-5639668" y="5657850"/>
            <a:ext cx="10551506" cy="10551506"/>
          </a:xfrm>
          <a:custGeom>
            <a:avLst/>
            <a:gdLst/>
            <a:ahLst/>
            <a:cxnLst/>
            <a:rect l="l" t="t" r="r" b="b"/>
            <a:pathLst>
              <a:path w="10551506" h="10551506">
                <a:moveTo>
                  <a:pt x="0" y="0"/>
                </a:moveTo>
                <a:lnTo>
                  <a:pt x="10551506" y="0"/>
                </a:lnTo>
                <a:lnTo>
                  <a:pt x="10551506" y="10551506"/>
                </a:lnTo>
                <a:lnTo>
                  <a:pt x="0" y="105515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sp>
        <p:nvSpPr>
          <p:cNvPr id="5" name="Freeform 5"/>
          <p:cNvSpPr/>
          <p:nvPr/>
        </p:nvSpPr>
        <p:spPr>
          <a:xfrm>
            <a:off x="14261850" y="5728319"/>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p:spPr>
        <p:txBody>
          <a:bodyPr/>
          <a:lstStyle/>
          <a:p>
            <a:endParaRPr lang="ar-OM"/>
          </a:p>
        </p:txBody>
      </p:sp>
      <p:sp>
        <p:nvSpPr>
          <p:cNvPr id="6" name="Freeform 6"/>
          <p:cNvSpPr/>
          <p:nvPr/>
        </p:nvSpPr>
        <p:spPr>
          <a:xfrm>
            <a:off x="13081656" y="-4298669"/>
            <a:ext cx="8355287" cy="8355287"/>
          </a:xfrm>
          <a:custGeom>
            <a:avLst/>
            <a:gdLst/>
            <a:ahLst/>
            <a:cxnLst/>
            <a:rect l="l" t="t" r="r" b="b"/>
            <a:pathLst>
              <a:path w="8355287" h="8355287">
                <a:moveTo>
                  <a:pt x="0" y="0"/>
                </a:moveTo>
                <a:lnTo>
                  <a:pt x="8355288" y="0"/>
                </a:lnTo>
                <a:lnTo>
                  <a:pt x="8355288" y="8355288"/>
                </a:lnTo>
                <a:lnTo>
                  <a:pt x="0" y="8355288"/>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7" name="Group 7"/>
          <p:cNvGrpSpPr/>
          <p:nvPr/>
        </p:nvGrpSpPr>
        <p:grpSpPr>
          <a:xfrm>
            <a:off x="1421553" y="2312096"/>
            <a:ext cx="15837747" cy="7451616"/>
            <a:chOff x="0" y="0"/>
            <a:chExt cx="5023118" cy="2225416"/>
          </a:xfrm>
        </p:grpSpPr>
        <p:sp>
          <p:nvSpPr>
            <p:cNvPr id="8" name="Freeform 8"/>
            <p:cNvSpPr/>
            <p:nvPr/>
          </p:nvSpPr>
          <p:spPr>
            <a:xfrm>
              <a:off x="0" y="0"/>
              <a:ext cx="5023117" cy="2225416"/>
            </a:xfrm>
            <a:custGeom>
              <a:avLst/>
              <a:gdLst/>
              <a:ahLst/>
              <a:cxnLst/>
              <a:rect l="l" t="t" r="r" b="b"/>
              <a:pathLst>
                <a:path w="5023117" h="2225416">
                  <a:moveTo>
                    <a:pt x="14665" y="0"/>
                  </a:moveTo>
                  <a:lnTo>
                    <a:pt x="5008452" y="0"/>
                  </a:lnTo>
                  <a:cubicBezTo>
                    <a:pt x="5012342" y="0"/>
                    <a:pt x="5016072" y="1545"/>
                    <a:pt x="5018822" y="4295"/>
                  </a:cubicBezTo>
                  <a:cubicBezTo>
                    <a:pt x="5021573" y="7045"/>
                    <a:pt x="5023117" y="10775"/>
                    <a:pt x="5023117" y="14665"/>
                  </a:cubicBezTo>
                  <a:lnTo>
                    <a:pt x="5023117" y="2210751"/>
                  </a:lnTo>
                  <a:cubicBezTo>
                    <a:pt x="5023117" y="2218850"/>
                    <a:pt x="5016552" y="2225416"/>
                    <a:pt x="5008452" y="2225416"/>
                  </a:cubicBezTo>
                  <a:lnTo>
                    <a:pt x="14665" y="2225416"/>
                  </a:lnTo>
                  <a:cubicBezTo>
                    <a:pt x="6566" y="2225416"/>
                    <a:pt x="0" y="2218850"/>
                    <a:pt x="0" y="2210751"/>
                  </a:cubicBezTo>
                  <a:lnTo>
                    <a:pt x="0" y="14665"/>
                  </a:lnTo>
                  <a:cubicBezTo>
                    <a:pt x="0" y="6566"/>
                    <a:pt x="6566" y="0"/>
                    <a:pt x="14665" y="0"/>
                  </a:cubicBezTo>
                  <a:close/>
                </a:path>
              </a:pathLst>
            </a:custGeom>
            <a:gradFill rotWithShape="1">
              <a:gsLst>
                <a:gs pos="0">
                  <a:srgbClr val="7A3E12">
                    <a:alpha val="84000"/>
                  </a:srgbClr>
                </a:gs>
                <a:gs pos="100000">
                  <a:srgbClr val="2F1B11">
                    <a:alpha val="84000"/>
                  </a:srgbClr>
                </a:gs>
              </a:gsLst>
              <a:lin ang="2700000"/>
            </a:gradFill>
          </p:spPr>
          <p:txBody>
            <a:bodyPr/>
            <a:lstStyle/>
            <a:p>
              <a:endParaRPr lang="ar-OM"/>
            </a:p>
          </p:txBody>
        </p:sp>
        <p:sp>
          <p:nvSpPr>
            <p:cNvPr id="9" name="TextBox 9"/>
            <p:cNvSpPr txBox="1"/>
            <p:nvPr/>
          </p:nvSpPr>
          <p:spPr>
            <a:xfrm>
              <a:off x="0" y="-85725"/>
              <a:ext cx="5023118" cy="2311141"/>
            </a:xfrm>
            <a:prstGeom prst="rect">
              <a:avLst/>
            </a:prstGeom>
          </p:spPr>
          <p:txBody>
            <a:bodyPr lIns="50800" tIns="50800" rIns="50800" bIns="50800" rtlCol="0" anchor="ctr"/>
            <a:lstStyle/>
            <a:p>
              <a:pPr algn="ctr">
                <a:lnSpc>
                  <a:spcPts val="3161"/>
                </a:lnSpc>
              </a:pPr>
              <a:endParaRPr/>
            </a:p>
          </p:txBody>
        </p:sp>
      </p:grpSp>
      <p:sp>
        <p:nvSpPr>
          <p:cNvPr id="10" name="Freeform 10"/>
          <p:cNvSpPr/>
          <p:nvPr/>
        </p:nvSpPr>
        <p:spPr>
          <a:xfrm>
            <a:off x="17259300" y="3582497"/>
            <a:ext cx="2869251" cy="2869251"/>
          </a:xfrm>
          <a:custGeom>
            <a:avLst/>
            <a:gdLst/>
            <a:ahLst/>
            <a:cxnLst/>
            <a:rect l="l" t="t" r="r" b="b"/>
            <a:pathLst>
              <a:path w="2869251" h="2869251">
                <a:moveTo>
                  <a:pt x="0" y="0"/>
                </a:moveTo>
                <a:lnTo>
                  <a:pt x="2869251" y="0"/>
                </a:lnTo>
                <a:lnTo>
                  <a:pt x="2869251" y="2869251"/>
                </a:lnTo>
                <a:lnTo>
                  <a:pt x="0" y="28692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11" name="Freeform 11"/>
          <p:cNvSpPr/>
          <p:nvPr/>
        </p:nvSpPr>
        <p:spPr>
          <a:xfrm>
            <a:off x="-2534296" y="1386230"/>
            <a:ext cx="10495428" cy="9445570"/>
          </a:xfrm>
          <a:custGeom>
            <a:avLst/>
            <a:gdLst/>
            <a:ahLst/>
            <a:cxnLst/>
            <a:rect l="l" t="t" r="r" b="b"/>
            <a:pathLst>
              <a:path w="10495428" h="9445570">
                <a:moveTo>
                  <a:pt x="0" y="0"/>
                </a:moveTo>
                <a:lnTo>
                  <a:pt x="10495428" y="0"/>
                </a:lnTo>
                <a:lnTo>
                  <a:pt x="10495428" y="9445570"/>
                </a:lnTo>
                <a:lnTo>
                  <a:pt x="0" y="9445570"/>
                </a:lnTo>
                <a:lnTo>
                  <a:pt x="0" y="0"/>
                </a:lnTo>
                <a:close/>
              </a:path>
            </a:pathLst>
          </a:custGeom>
          <a:blipFill>
            <a:blip r:embed="rId7"/>
            <a:stretch>
              <a:fillRect b="-11114"/>
            </a:stretch>
          </a:blipFill>
        </p:spPr>
        <p:txBody>
          <a:bodyPr/>
          <a:lstStyle/>
          <a:p>
            <a:endParaRPr lang="ar-OM"/>
          </a:p>
        </p:txBody>
      </p:sp>
      <p:sp>
        <p:nvSpPr>
          <p:cNvPr id="12" name="TextBox 12"/>
          <p:cNvSpPr txBox="1"/>
          <p:nvPr/>
        </p:nvSpPr>
        <p:spPr>
          <a:xfrm>
            <a:off x="3423785" y="1214780"/>
            <a:ext cx="13447759" cy="880683"/>
          </a:xfrm>
          <a:prstGeom prst="rect">
            <a:avLst/>
          </a:prstGeom>
        </p:spPr>
        <p:txBody>
          <a:bodyPr lIns="0" tIns="0" rIns="0" bIns="0" rtlCol="0" anchor="t">
            <a:spAutoFit/>
          </a:bodyPr>
          <a:lstStyle/>
          <a:p>
            <a:pPr algn="r" rtl="1">
              <a:lnSpc>
                <a:spcPts val="6583"/>
              </a:lnSpc>
            </a:pPr>
            <a:r>
              <a:rPr lang="ar-EG" sz="4702" b="1">
                <a:solidFill>
                  <a:srgbClr val="FFFFFF"/>
                </a:solidFill>
                <a:latin typeface="GE SS Two Medium"/>
                <a:ea typeface="GE SS Two Medium"/>
                <a:cs typeface="GE SS Two Medium"/>
                <a:sym typeface="GE SS Two Medium"/>
                <a:rtl/>
              </a:rPr>
              <a:t>المقدمة – حين تصبح الشجرة تاريخًا</a:t>
            </a:r>
          </a:p>
        </p:txBody>
      </p:sp>
      <p:sp>
        <p:nvSpPr>
          <p:cNvPr id="13" name="TextBox 13"/>
          <p:cNvSpPr txBox="1"/>
          <p:nvPr/>
        </p:nvSpPr>
        <p:spPr>
          <a:xfrm>
            <a:off x="5527074" y="2608580"/>
            <a:ext cx="11344470" cy="6472791"/>
          </a:xfrm>
          <a:prstGeom prst="rect">
            <a:avLst/>
          </a:prstGeom>
        </p:spPr>
        <p:txBody>
          <a:bodyPr lIns="0" tIns="0" rIns="0" bIns="0" rtlCol="0" anchor="t">
            <a:spAutoFit/>
          </a:bodyPr>
          <a:lstStyle/>
          <a:p>
            <a:pPr algn="r" rtl="1">
              <a:lnSpc>
                <a:spcPts val="3906"/>
              </a:lnSpc>
            </a:pPr>
            <a:r>
              <a:rPr lang="ar-EG" sz="2790" b="1">
                <a:solidFill>
                  <a:srgbClr val="FFFFFF"/>
                </a:solidFill>
                <a:latin typeface="GE SS Two Medium"/>
                <a:ea typeface="GE SS Two Medium"/>
                <a:cs typeface="GE SS Two Medium"/>
                <a:sym typeface="GE SS Two Medium"/>
                <a:rtl/>
              </a:rPr>
              <a:t>ليست كل الأشجار متشابهة في قيمتها؛ فبعضها يمنحنا الظل، وبعضها يمنحنا الثمر، أما شجرة اللبان العُمانية فقد منحت أرض عُمان شيئًا يتجاوز ذلك كله؛ منحتها عطرًا عبر البحار، ومكانةً في طرق التجارة القديمة، وإرثًا بقي حاضرًا في ذاكرة الإنسان العُماني حتى يومنا هذا. </a:t>
            </a:r>
          </a:p>
          <a:p>
            <a:pPr algn="r" rtl="1">
              <a:lnSpc>
                <a:spcPts val="3906"/>
              </a:lnSpc>
            </a:pPr>
            <a:endParaRPr lang="ar-EG" sz="2790" b="1">
              <a:solidFill>
                <a:srgbClr val="FFFFFF"/>
              </a:solidFill>
              <a:latin typeface="GE SS Two Medium"/>
              <a:ea typeface="GE SS Two Medium"/>
              <a:cs typeface="GE SS Two Medium"/>
              <a:sym typeface="GE SS Two Medium"/>
              <a:rtl/>
            </a:endParaRPr>
          </a:p>
          <a:p>
            <a:pPr algn="r" rtl="1">
              <a:lnSpc>
                <a:spcPts val="3906"/>
              </a:lnSpc>
            </a:pPr>
            <a:r>
              <a:rPr lang="ar-EG" sz="2790" b="1">
                <a:solidFill>
                  <a:srgbClr val="FFFFFF"/>
                </a:solidFill>
                <a:latin typeface="GE SS Two Medium"/>
                <a:ea typeface="GE SS Two Medium"/>
                <a:cs typeface="GE SS Two Medium"/>
                <a:sym typeface="GE SS Two Medium"/>
                <a:rtl/>
              </a:rPr>
              <a:t>في محافظة ظفار، حيث تلتقي الجبال بخصوصية المناخ وتتشكل ملامح الطبيعة الجنوبية، تقف شجرة اللبان شاهدًا حيًّا على علاقة الإنسان بأرضه. إنها شجرة تبدو هادئة في مظهرها، لكنها تحمل في جذعها قصة حضارة، وفي قطراتها الصمغية حكاية تجارة، وفي بقائها مسؤولية أجيال. </a:t>
            </a:r>
          </a:p>
          <a:p>
            <a:pPr algn="r" rtl="1">
              <a:lnSpc>
                <a:spcPts val="3906"/>
              </a:lnSpc>
            </a:pPr>
            <a:endParaRPr lang="ar-EG" sz="2790" b="1">
              <a:solidFill>
                <a:srgbClr val="FFFFFF"/>
              </a:solidFill>
              <a:latin typeface="GE SS Two Medium"/>
              <a:ea typeface="GE SS Two Medium"/>
              <a:cs typeface="GE SS Two Medium"/>
              <a:sym typeface="GE SS Two Medium"/>
              <a:rtl/>
            </a:endParaRPr>
          </a:p>
          <a:p>
            <a:pPr algn="r" rtl="1">
              <a:lnSpc>
                <a:spcPts val="3906"/>
              </a:lnSpc>
            </a:pPr>
            <a:r>
              <a:rPr lang="ar-EG" sz="2790" b="1">
                <a:solidFill>
                  <a:srgbClr val="FFFFFF"/>
                </a:solidFill>
                <a:latin typeface="GE SS Two Medium"/>
                <a:ea typeface="GE SS Two Medium"/>
                <a:cs typeface="GE SS Two Medium"/>
                <a:sym typeface="GE SS Two Medium"/>
                <a:rtl/>
              </a:rPr>
              <a:t>ومن هنا تنطلق أهمية هذا البحث: كيف استطاعت شجرة صغيرة أن تصبح رمزًا حضاريًا يربط عُمان بالعالم؟</a:t>
            </a:r>
          </a:p>
          <a:p>
            <a:pPr algn="r" rtl="1">
              <a:lnSpc>
                <a:spcPts val="3906"/>
              </a:lnSpc>
            </a:pPr>
            <a:endParaRPr lang="ar-EG" sz="2790" b="1">
              <a:solidFill>
                <a:srgbClr val="FFFFFF"/>
              </a:solidFill>
              <a:latin typeface="GE SS Two Medium"/>
              <a:ea typeface="GE SS Two Medium"/>
              <a:cs typeface="GE SS Two Medium"/>
              <a:sym typeface="GE SS Two Medium"/>
              <a:rtl/>
            </a:endParaRPr>
          </a:p>
        </p:txBody>
      </p:sp>
      <p:sp>
        <p:nvSpPr>
          <p:cNvPr id="18" name="Freeform 22">
            <a:extLst>
              <a:ext uri="{FF2B5EF4-FFF2-40B4-BE49-F238E27FC236}">
                <a16:creationId xmlns:a16="http://schemas.microsoft.com/office/drawing/2014/main" id="{A8589DAF-8794-557C-2015-63744360B8AF}"/>
              </a:ext>
            </a:extLst>
          </p:cNvPr>
          <p:cNvSpPr/>
          <p:nvPr/>
        </p:nvSpPr>
        <p:spPr>
          <a:xfrm rot="7569404">
            <a:off x="16798636" y="263221"/>
            <a:ext cx="1259447" cy="1707878"/>
          </a:xfrm>
          <a:custGeom>
            <a:avLst/>
            <a:gdLst/>
            <a:ahLst/>
            <a:cxnLst/>
            <a:rect l="l" t="t" r="r" b="b"/>
            <a:pathLst>
              <a:path w="1890910" h="3422462">
                <a:moveTo>
                  <a:pt x="0" y="0"/>
                </a:moveTo>
                <a:lnTo>
                  <a:pt x="1890910" y="0"/>
                </a:lnTo>
                <a:lnTo>
                  <a:pt x="1890910" y="3422462"/>
                </a:lnTo>
                <a:lnTo>
                  <a:pt x="0" y="3422462"/>
                </a:lnTo>
                <a:lnTo>
                  <a:pt x="0" y="0"/>
                </a:lnTo>
                <a:close/>
              </a:path>
            </a:pathLst>
          </a:custGeom>
          <a:blipFill>
            <a:blip r:embed="rId8"/>
            <a:stretch>
              <a:fillRect/>
            </a:stretch>
          </a:blipFill>
        </p:spPr>
        <p:txBody>
          <a:bodyPr/>
          <a:lstStyle/>
          <a:p>
            <a:endParaRPr lang="ar-OM"/>
          </a:p>
        </p:txBody>
      </p:sp>
      <p:sp>
        <p:nvSpPr>
          <p:cNvPr id="20" name="Freeform 23">
            <a:extLst>
              <a:ext uri="{FF2B5EF4-FFF2-40B4-BE49-F238E27FC236}">
                <a16:creationId xmlns:a16="http://schemas.microsoft.com/office/drawing/2014/main" id="{B479D1F5-8375-5A51-B677-B546CCBA46D6}"/>
              </a:ext>
            </a:extLst>
          </p:cNvPr>
          <p:cNvSpPr/>
          <p:nvPr/>
        </p:nvSpPr>
        <p:spPr>
          <a:xfrm rot="9093637">
            <a:off x="257486" y="-202947"/>
            <a:ext cx="1269075" cy="1664361"/>
          </a:xfrm>
          <a:custGeom>
            <a:avLst/>
            <a:gdLst/>
            <a:ahLst/>
            <a:cxnLst/>
            <a:rect l="l" t="t" r="r" b="b"/>
            <a:pathLst>
              <a:path w="1269075" h="1664361">
                <a:moveTo>
                  <a:pt x="0" y="0"/>
                </a:moveTo>
                <a:lnTo>
                  <a:pt x="1269075" y="0"/>
                </a:lnTo>
                <a:lnTo>
                  <a:pt x="1269075" y="1664361"/>
                </a:lnTo>
                <a:lnTo>
                  <a:pt x="0" y="1664361"/>
                </a:lnTo>
                <a:lnTo>
                  <a:pt x="0" y="0"/>
                </a:lnTo>
                <a:close/>
              </a:path>
            </a:pathLst>
          </a:custGeom>
          <a:blipFill>
            <a:blip r:embed="rId9"/>
            <a:stretch>
              <a:fillRect/>
            </a:stretch>
          </a:blipFill>
        </p:spPr>
        <p:txBody>
          <a:bodyPr/>
          <a:lstStyle/>
          <a:p>
            <a:endParaRPr lang="ar-OM"/>
          </a:p>
        </p:txBody>
      </p:sp>
      <p:sp>
        <p:nvSpPr>
          <p:cNvPr id="22" name="Freeform 27">
            <a:extLst>
              <a:ext uri="{FF2B5EF4-FFF2-40B4-BE49-F238E27FC236}">
                <a16:creationId xmlns:a16="http://schemas.microsoft.com/office/drawing/2014/main" id="{6993E3DA-7128-81DE-2CC5-839FFEBFCF42}"/>
              </a:ext>
            </a:extLst>
          </p:cNvPr>
          <p:cNvSpPr/>
          <p:nvPr/>
        </p:nvSpPr>
        <p:spPr>
          <a:xfrm>
            <a:off x="412900" y="-121026"/>
            <a:ext cx="2007112" cy="2101952"/>
          </a:xfrm>
          <a:custGeom>
            <a:avLst/>
            <a:gdLst/>
            <a:ahLst/>
            <a:cxnLst/>
            <a:rect l="l" t="t" r="r" b="b"/>
            <a:pathLst>
              <a:path w="3507262" h="3507262">
                <a:moveTo>
                  <a:pt x="0" y="0"/>
                </a:moveTo>
                <a:lnTo>
                  <a:pt x="3507262" y="0"/>
                </a:lnTo>
                <a:lnTo>
                  <a:pt x="3507262" y="3507262"/>
                </a:lnTo>
                <a:lnTo>
                  <a:pt x="0" y="3507262"/>
                </a:lnTo>
                <a:lnTo>
                  <a:pt x="0" y="0"/>
                </a:lnTo>
                <a:close/>
              </a:path>
            </a:pathLst>
          </a:custGeom>
          <a:blipFill>
            <a:blip r:embed="rId10"/>
            <a:stretch>
              <a:fillRect/>
            </a:stretch>
          </a:blipFill>
        </p:spPr>
        <p:txBody>
          <a:bodyPr/>
          <a:lstStyle/>
          <a:p>
            <a:endParaRPr lang="ar-OM"/>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11" name="Freeform 2">
            <a:extLst>
              <a:ext uri="{FF2B5EF4-FFF2-40B4-BE49-F238E27FC236}">
                <a16:creationId xmlns:a16="http://schemas.microsoft.com/office/drawing/2014/main" id="{C8D50522-CCBD-CCC6-204D-E34DB63B2BF7}"/>
              </a:ext>
            </a:extLst>
          </p:cNvPr>
          <p:cNvSpPr/>
          <p:nvPr/>
        </p:nvSpPr>
        <p:spPr>
          <a:xfrm>
            <a:off x="-1530615" y="-4533900"/>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a:off x="-2945559" y="-25717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5275753" y="5505900"/>
            <a:ext cx="10551506" cy="10551506"/>
          </a:xfrm>
          <a:custGeom>
            <a:avLst/>
            <a:gdLst/>
            <a:ahLst/>
            <a:cxnLst/>
            <a:rect l="l" t="t" r="r" b="b"/>
            <a:pathLst>
              <a:path w="10551506" h="10551506">
                <a:moveTo>
                  <a:pt x="0" y="0"/>
                </a:moveTo>
                <a:lnTo>
                  <a:pt x="10551506" y="0"/>
                </a:lnTo>
                <a:lnTo>
                  <a:pt x="10551506" y="10551506"/>
                </a:lnTo>
                <a:lnTo>
                  <a:pt x="0" y="105515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4" name="Freeform 4"/>
          <p:cNvSpPr/>
          <p:nvPr/>
        </p:nvSpPr>
        <p:spPr>
          <a:xfrm>
            <a:off x="13684656" y="3617746"/>
            <a:ext cx="8355287" cy="8355287"/>
          </a:xfrm>
          <a:custGeom>
            <a:avLst/>
            <a:gdLst/>
            <a:ahLst/>
            <a:cxnLst/>
            <a:rect l="l" t="t" r="r" b="b"/>
            <a:pathLst>
              <a:path w="8355287" h="8355287">
                <a:moveTo>
                  <a:pt x="0" y="0"/>
                </a:moveTo>
                <a:lnTo>
                  <a:pt x="8355288" y="0"/>
                </a:lnTo>
                <a:lnTo>
                  <a:pt x="8355288" y="8355287"/>
                </a:lnTo>
                <a:lnTo>
                  <a:pt x="0" y="8355287"/>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5" name="Freeform 5"/>
          <p:cNvSpPr/>
          <p:nvPr/>
        </p:nvSpPr>
        <p:spPr>
          <a:xfrm>
            <a:off x="14261850" y="63008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sp>
        <p:nvSpPr>
          <p:cNvPr id="6" name="Freeform 6"/>
          <p:cNvSpPr/>
          <p:nvPr/>
        </p:nvSpPr>
        <p:spPr>
          <a:xfrm>
            <a:off x="-1530615" y="2203200"/>
            <a:ext cx="21844470" cy="7415038"/>
          </a:xfrm>
          <a:custGeom>
            <a:avLst/>
            <a:gdLst/>
            <a:ahLst/>
            <a:cxnLst/>
            <a:rect l="l" t="t" r="r" b="b"/>
            <a:pathLst>
              <a:path w="21844470" h="7415038">
                <a:moveTo>
                  <a:pt x="0" y="0"/>
                </a:moveTo>
                <a:lnTo>
                  <a:pt x="21844469" y="0"/>
                </a:lnTo>
                <a:lnTo>
                  <a:pt x="21844469" y="7415038"/>
                </a:lnTo>
                <a:lnTo>
                  <a:pt x="0" y="7415038"/>
                </a:lnTo>
                <a:lnTo>
                  <a:pt x="0" y="0"/>
                </a:lnTo>
                <a:close/>
              </a:path>
            </a:pathLst>
          </a:custGeom>
          <a:blipFill>
            <a:blip>
              <a:extLst>
                <a:ext uri="{96DAC541-7B7A-43D3-8B79-37D633B846F1}">
                  <asvg:svgBlip xmlns:asvg="http://schemas.microsoft.com/office/drawing/2016/SVG/main" r:embed="rId5"/>
                </a:ext>
              </a:extLst>
            </a:blip>
            <a:stretch>
              <a:fillRect t="-116888" b="-77708"/>
            </a:stretch>
          </a:blipFill>
        </p:spPr>
        <p:txBody>
          <a:bodyPr/>
          <a:lstStyle/>
          <a:p>
            <a:endParaRPr lang="ar-OM"/>
          </a:p>
        </p:txBody>
      </p:sp>
      <p:sp>
        <p:nvSpPr>
          <p:cNvPr id="7" name="Freeform 7"/>
          <p:cNvSpPr/>
          <p:nvPr/>
        </p:nvSpPr>
        <p:spPr>
          <a:xfrm>
            <a:off x="11179662" y="2517398"/>
            <a:ext cx="6475509" cy="6740902"/>
          </a:xfrm>
          <a:custGeom>
            <a:avLst/>
            <a:gdLst/>
            <a:ahLst/>
            <a:cxnLst/>
            <a:rect l="l" t="t" r="r" b="b"/>
            <a:pathLst>
              <a:path w="6475509" h="6740902">
                <a:moveTo>
                  <a:pt x="0" y="0"/>
                </a:moveTo>
                <a:lnTo>
                  <a:pt x="6475509" y="0"/>
                </a:lnTo>
                <a:lnTo>
                  <a:pt x="6475509" y="6740902"/>
                </a:lnTo>
                <a:lnTo>
                  <a:pt x="0" y="6740902"/>
                </a:lnTo>
                <a:lnTo>
                  <a:pt x="0" y="0"/>
                </a:lnTo>
                <a:close/>
              </a:path>
            </a:pathLst>
          </a:custGeom>
          <a:blipFill>
            <a:blip r:embed="rId6"/>
            <a:stretch>
              <a:fillRect l="-2049" r="-2049"/>
            </a:stretch>
          </a:blipFill>
        </p:spPr>
        <p:txBody>
          <a:bodyPr/>
          <a:lstStyle/>
          <a:p>
            <a:endParaRPr lang="ar-OM"/>
          </a:p>
        </p:txBody>
      </p:sp>
      <p:sp>
        <p:nvSpPr>
          <p:cNvPr id="8" name="TextBox 8"/>
          <p:cNvSpPr txBox="1"/>
          <p:nvPr/>
        </p:nvSpPr>
        <p:spPr>
          <a:xfrm>
            <a:off x="4143434" y="1088768"/>
            <a:ext cx="9315196" cy="862841"/>
          </a:xfrm>
          <a:prstGeom prst="rect">
            <a:avLst/>
          </a:prstGeom>
        </p:spPr>
        <p:txBody>
          <a:bodyPr lIns="0" tIns="0" rIns="0" bIns="0" rtlCol="0" anchor="t">
            <a:spAutoFit/>
          </a:bodyPr>
          <a:lstStyle/>
          <a:p>
            <a:pPr algn="ctr">
              <a:lnSpc>
                <a:spcPts val="6468"/>
              </a:lnSpc>
            </a:pPr>
            <a:r>
              <a:rPr lang="ar-EG" sz="4620" b="1">
                <a:solidFill>
                  <a:srgbClr val="E9F4FA"/>
                </a:solidFill>
                <a:latin typeface="GE SS Two Medium"/>
                <a:ea typeface="GE SS Two Medium"/>
                <a:cs typeface="GE SS Two Medium"/>
                <a:sym typeface="GE SS Two Medium"/>
                <a:rtl/>
              </a:rPr>
              <a:t>من جذع الشجرة إلى هوية المكان</a:t>
            </a:r>
          </a:p>
        </p:txBody>
      </p:sp>
      <p:sp>
        <p:nvSpPr>
          <p:cNvPr id="9" name="TextBox 9"/>
          <p:cNvSpPr txBox="1"/>
          <p:nvPr/>
        </p:nvSpPr>
        <p:spPr>
          <a:xfrm>
            <a:off x="304801" y="2272846"/>
            <a:ext cx="10309392" cy="6985454"/>
          </a:xfrm>
          <a:prstGeom prst="rect">
            <a:avLst/>
          </a:prstGeom>
        </p:spPr>
        <p:txBody>
          <a:bodyPr wrap="square" lIns="0" tIns="0" rIns="0" bIns="0" rtlCol="0" anchor="t">
            <a:spAutoFit/>
          </a:bodyPr>
          <a:lstStyle/>
          <a:p>
            <a:pPr algn="r" rtl="1">
              <a:lnSpc>
                <a:spcPts val="4518"/>
              </a:lnSpc>
            </a:pPr>
            <a:r>
              <a:rPr lang="ar-EG" sz="2400" b="1" dirty="0">
                <a:solidFill>
                  <a:srgbClr val="E9F4FA"/>
                </a:solidFill>
                <a:latin typeface="GE SS Two Medium"/>
                <a:ea typeface="GE SS Two Medium"/>
                <a:cs typeface="GE SS Two Medium"/>
                <a:sym typeface="GE SS Two Medium"/>
                <a:rtl/>
              </a:rPr>
              <a:t>تتميز شجرة اللبان بقدرتها على النمو في بيئات صعبة، وبإفراز مادة عطرية تجف لتصبح قطعًا صغيرة تُستخدم في التبخير وصناعة العطور. لكن انتقال اللبان من الطبيعة إلى حياة الناس هو ما منحه معناه الثقافي الأوسع. </a:t>
            </a:r>
          </a:p>
          <a:p>
            <a:pPr algn="r" rtl="1">
              <a:lnSpc>
                <a:spcPts val="2250"/>
              </a:lnSpc>
            </a:pPr>
            <a:endParaRPr lang="ar-EG" sz="2400" b="1" dirty="0">
              <a:solidFill>
                <a:srgbClr val="E9F4FA"/>
              </a:solidFill>
              <a:latin typeface="GE SS Two Medium"/>
              <a:ea typeface="GE SS Two Medium"/>
              <a:cs typeface="GE SS Two Medium"/>
              <a:sym typeface="GE SS Two Medium"/>
              <a:rtl/>
            </a:endParaRPr>
          </a:p>
          <a:p>
            <a:pPr algn="r" rtl="1">
              <a:lnSpc>
                <a:spcPts val="4518"/>
              </a:lnSpc>
            </a:pPr>
            <a:r>
              <a:rPr lang="ar-EG" sz="2400" b="1" dirty="0">
                <a:solidFill>
                  <a:srgbClr val="E9F4FA"/>
                </a:solidFill>
                <a:latin typeface="GE SS Two Medium"/>
                <a:ea typeface="GE SS Two Medium"/>
                <a:cs typeface="GE SS Two Medium"/>
                <a:sym typeface="GE SS Two Medium"/>
                <a:rtl/>
              </a:rPr>
              <a:t>فالرائحة ليست مجرد إحساس عابر؛ قد ترتبط ببيت، أو مناسبة، أو ذكرى عائلية. وهكذا أصبح اللبان حاضرًا في جوانب من الحياة العُمانية، وارتبط بالضيافة وتعطير المنازل والملابس، حتى غدا عنصرًا مألوفًا في الذاكرة الحسية للمجتمع. </a:t>
            </a:r>
          </a:p>
          <a:p>
            <a:pPr algn="r" rtl="1">
              <a:lnSpc>
                <a:spcPts val="3222"/>
              </a:lnSpc>
            </a:pPr>
            <a:endParaRPr lang="ar-EG" sz="2400" b="1" dirty="0">
              <a:solidFill>
                <a:srgbClr val="E9F4FA"/>
              </a:solidFill>
              <a:latin typeface="GE SS Two Medium"/>
              <a:ea typeface="GE SS Two Medium"/>
              <a:cs typeface="GE SS Two Medium"/>
              <a:sym typeface="GE SS Two Medium"/>
              <a:rtl/>
            </a:endParaRPr>
          </a:p>
          <a:p>
            <a:pPr algn="r" rtl="1">
              <a:lnSpc>
                <a:spcPts val="4518"/>
              </a:lnSpc>
            </a:pPr>
            <a:r>
              <a:rPr lang="ar-EG" sz="2400" b="1" dirty="0">
                <a:solidFill>
                  <a:srgbClr val="E9F4FA"/>
                </a:solidFill>
                <a:latin typeface="GE SS Two Medium"/>
                <a:ea typeface="GE SS Two Medium"/>
                <a:cs typeface="GE SS Two Medium"/>
                <a:sym typeface="GE SS Two Medium"/>
                <a:rtl/>
              </a:rPr>
              <a:t>ومن المثيرة للتأمل أن شجرة تنمو في منطقة محددة يمكن أن يتجاوز أثرها حدود المكان، وأن تبقى هويتها حاضرة حتى لدى من لم يشاهدها في موطنها الأصلي.</a:t>
            </a:r>
          </a:p>
        </p:txBody>
      </p:sp>
      <p:sp>
        <p:nvSpPr>
          <p:cNvPr id="13" name="Freeform 27">
            <a:extLst>
              <a:ext uri="{FF2B5EF4-FFF2-40B4-BE49-F238E27FC236}">
                <a16:creationId xmlns:a16="http://schemas.microsoft.com/office/drawing/2014/main" id="{56568471-9B80-94FC-4BBD-D433A7F8DB85}"/>
              </a:ext>
            </a:extLst>
          </p:cNvPr>
          <p:cNvSpPr/>
          <p:nvPr/>
        </p:nvSpPr>
        <p:spPr>
          <a:xfrm rot="9047477">
            <a:off x="-752970" y="-1090572"/>
            <a:ext cx="3619894" cy="3857346"/>
          </a:xfrm>
          <a:custGeom>
            <a:avLst/>
            <a:gdLst/>
            <a:ahLst/>
            <a:cxnLst/>
            <a:rect l="l" t="t" r="r" b="b"/>
            <a:pathLst>
              <a:path w="3507262" h="3507262">
                <a:moveTo>
                  <a:pt x="0" y="0"/>
                </a:moveTo>
                <a:lnTo>
                  <a:pt x="3507262" y="0"/>
                </a:lnTo>
                <a:lnTo>
                  <a:pt x="3507262" y="3507262"/>
                </a:lnTo>
                <a:lnTo>
                  <a:pt x="0" y="3507262"/>
                </a:lnTo>
                <a:lnTo>
                  <a:pt x="0" y="0"/>
                </a:lnTo>
                <a:close/>
              </a:path>
            </a:pathLst>
          </a:custGeom>
          <a:blipFill>
            <a:blip r:embed="rId7"/>
            <a:stretch>
              <a:fillRect/>
            </a:stretch>
          </a:blipFill>
        </p:spPr>
        <p:txBody>
          <a:bodyPr/>
          <a:lstStyle/>
          <a:p>
            <a:endParaRPr lang="ar-OM"/>
          </a:p>
        </p:txBody>
      </p:sp>
      <p:sp>
        <p:nvSpPr>
          <p:cNvPr id="15" name="Freeform 22">
            <a:extLst>
              <a:ext uri="{FF2B5EF4-FFF2-40B4-BE49-F238E27FC236}">
                <a16:creationId xmlns:a16="http://schemas.microsoft.com/office/drawing/2014/main" id="{0D6A33D4-DBF3-8A69-3693-D55F326DBFF2}"/>
              </a:ext>
            </a:extLst>
          </p:cNvPr>
          <p:cNvSpPr/>
          <p:nvPr/>
        </p:nvSpPr>
        <p:spPr>
          <a:xfrm rot="13407043">
            <a:off x="17232576" y="8349046"/>
            <a:ext cx="1259447" cy="1707878"/>
          </a:xfrm>
          <a:custGeom>
            <a:avLst/>
            <a:gdLst/>
            <a:ahLst/>
            <a:cxnLst/>
            <a:rect l="l" t="t" r="r" b="b"/>
            <a:pathLst>
              <a:path w="1890910" h="3422462">
                <a:moveTo>
                  <a:pt x="0" y="0"/>
                </a:moveTo>
                <a:lnTo>
                  <a:pt x="1890910" y="0"/>
                </a:lnTo>
                <a:lnTo>
                  <a:pt x="1890910" y="3422462"/>
                </a:lnTo>
                <a:lnTo>
                  <a:pt x="0" y="3422462"/>
                </a:lnTo>
                <a:lnTo>
                  <a:pt x="0" y="0"/>
                </a:lnTo>
                <a:close/>
              </a:path>
            </a:pathLst>
          </a:custGeom>
          <a:blipFill>
            <a:blip r:embed="rId8"/>
            <a:stretch>
              <a:fillRect/>
            </a:stretch>
          </a:blipFill>
        </p:spPr>
        <p:txBody>
          <a:bodyPr/>
          <a:lstStyle/>
          <a:p>
            <a:endParaRPr lang="ar-OM"/>
          </a:p>
        </p:txBody>
      </p:sp>
      <p:sp>
        <p:nvSpPr>
          <p:cNvPr id="16" name="Freeform 2">
            <a:extLst>
              <a:ext uri="{FF2B5EF4-FFF2-40B4-BE49-F238E27FC236}">
                <a16:creationId xmlns:a16="http://schemas.microsoft.com/office/drawing/2014/main" id="{2A143573-1986-4307-637E-A563D2C2FC98}"/>
              </a:ext>
            </a:extLst>
          </p:cNvPr>
          <p:cNvSpPr/>
          <p:nvPr/>
        </p:nvSpPr>
        <p:spPr>
          <a:xfrm rot="8732356">
            <a:off x="3949037" y="13841071"/>
            <a:ext cx="12030449" cy="12030449"/>
          </a:xfrm>
          <a:custGeom>
            <a:avLst/>
            <a:gdLst/>
            <a:ahLst/>
            <a:cxnLst/>
            <a:rect l="l" t="t" r="r" b="b"/>
            <a:pathLst>
              <a:path w="12030449" h="12030449">
                <a:moveTo>
                  <a:pt x="0" y="0"/>
                </a:moveTo>
                <a:lnTo>
                  <a:pt x="12030450" y="0"/>
                </a:lnTo>
                <a:lnTo>
                  <a:pt x="12030450" y="12030450"/>
                </a:lnTo>
                <a:lnTo>
                  <a:pt x="0" y="1203045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ar-OM"/>
          </a:p>
        </p:txBody>
      </p:sp>
      <p:sp>
        <p:nvSpPr>
          <p:cNvPr id="17" name="Freeform 3">
            <a:extLst>
              <a:ext uri="{FF2B5EF4-FFF2-40B4-BE49-F238E27FC236}">
                <a16:creationId xmlns:a16="http://schemas.microsoft.com/office/drawing/2014/main" id="{293110C4-71F2-C1AE-8DAC-EA8BE9DAB39A}"/>
              </a:ext>
            </a:extLst>
          </p:cNvPr>
          <p:cNvSpPr/>
          <p:nvPr/>
        </p:nvSpPr>
        <p:spPr>
          <a:xfrm rot="11116781">
            <a:off x="14636250" y="15896371"/>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grpSp>
        <p:nvGrpSpPr>
          <p:cNvPr id="18" name="Group 7">
            <a:extLst>
              <a:ext uri="{FF2B5EF4-FFF2-40B4-BE49-F238E27FC236}">
                <a16:creationId xmlns:a16="http://schemas.microsoft.com/office/drawing/2014/main" id="{9F4A5C48-5EC9-BB93-5F3C-23FD3099F3EF}"/>
              </a:ext>
            </a:extLst>
          </p:cNvPr>
          <p:cNvGrpSpPr/>
          <p:nvPr/>
        </p:nvGrpSpPr>
        <p:grpSpPr>
          <a:xfrm rot="11116781">
            <a:off x="4938889" y="14830923"/>
            <a:ext cx="10050746" cy="5025373"/>
            <a:chOff x="0" y="0"/>
            <a:chExt cx="6350000" cy="3175000"/>
          </a:xfrm>
        </p:grpSpPr>
        <p:sp>
          <p:nvSpPr>
            <p:cNvPr id="19" name="Freeform 8">
              <a:extLst>
                <a:ext uri="{FF2B5EF4-FFF2-40B4-BE49-F238E27FC236}">
                  <a16:creationId xmlns:a16="http://schemas.microsoft.com/office/drawing/2014/main" id="{CF7CBD50-A9B7-5C98-91A8-6332EA25D6CD}"/>
                </a:ext>
              </a:extLst>
            </p:cNvPr>
            <p:cNvSpPr/>
            <p:nvPr/>
          </p:nvSpPr>
          <p:spPr>
            <a:xfrm>
              <a:off x="0" y="0"/>
              <a:ext cx="6350000" cy="3175000"/>
            </a:xfrm>
            <a:custGeom>
              <a:avLst/>
              <a:gdLst/>
              <a:ahLst/>
              <a:cxnLst/>
              <a:rect l="l" t="t" r="r" b="b"/>
              <a:pathLst>
                <a:path w="6350000" h="3175000">
                  <a:moveTo>
                    <a:pt x="3175000" y="0"/>
                  </a:moveTo>
                  <a:cubicBezTo>
                    <a:pt x="1421130" y="0"/>
                    <a:pt x="0" y="1421130"/>
                    <a:pt x="0" y="3175000"/>
                  </a:cubicBezTo>
                  <a:lnTo>
                    <a:pt x="6350000" y="3175000"/>
                  </a:lnTo>
                  <a:cubicBezTo>
                    <a:pt x="6350000" y="1421130"/>
                    <a:pt x="4928870" y="0"/>
                    <a:pt x="3175000" y="0"/>
                  </a:cubicBezTo>
                  <a:close/>
                </a:path>
              </a:pathLst>
            </a:custGeom>
            <a:blipFill>
              <a:blip r:embed="rId10"/>
              <a:stretch>
                <a:fillRect t="-11833" b="-11833"/>
              </a:stretch>
            </a:blipFill>
          </p:spPr>
          <p:txBody>
            <a:bodyPr/>
            <a:lstStyle/>
            <a:p>
              <a:endParaRPr lang="ar-OM"/>
            </a:p>
          </p:txBody>
        </p:sp>
      </p:grpSp>
      <p:grpSp>
        <p:nvGrpSpPr>
          <p:cNvPr id="20" name="Group 9">
            <a:extLst>
              <a:ext uri="{FF2B5EF4-FFF2-40B4-BE49-F238E27FC236}">
                <a16:creationId xmlns:a16="http://schemas.microsoft.com/office/drawing/2014/main" id="{72B23D90-D5EA-ADF7-E9F2-02C290F915FC}"/>
              </a:ext>
            </a:extLst>
          </p:cNvPr>
          <p:cNvGrpSpPr/>
          <p:nvPr/>
        </p:nvGrpSpPr>
        <p:grpSpPr>
          <a:xfrm rot="11116781">
            <a:off x="3382399" y="16917766"/>
            <a:ext cx="1693205" cy="1693205"/>
            <a:chOff x="0" y="0"/>
            <a:chExt cx="812800" cy="812800"/>
          </a:xfrm>
        </p:grpSpPr>
        <p:sp>
          <p:nvSpPr>
            <p:cNvPr id="21" name="Freeform 10">
              <a:extLst>
                <a:ext uri="{FF2B5EF4-FFF2-40B4-BE49-F238E27FC236}">
                  <a16:creationId xmlns:a16="http://schemas.microsoft.com/office/drawing/2014/main" id="{7135139E-F981-1384-1DCE-62FBFFF0D1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22" name="TextBox 11">
              <a:extLst>
                <a:ext uri="{FF2B5EF4-FFF2-40B4-BE49-F238E27FC236}">
                  <a16:creationId xmlns:a16="http://schemas.microsoft.com/office/drawing/2014/main" id="{233CE8FC-84AF-3D9B-6C16-245C5277BBE5}"/>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3" name="Group 12">
            <a:extLst>
              <a:ext uri="{FF2B5EF4-FFF2-40B4-BE49-F238E27FC236}">
                <a16:creationId xmlns:a16="http://schemas.microsoft.com/office/drawing/2014/main" id="{EA59EBA3-3D71-E0E2-A2A8-EBB86AAE3B45}"/>
              </a:ext>
            </a:extLst>
          </p:cNvPr>
          <p:cNvGrpSpPr/>
          <p:nvPr/>
        </p:nvGrpSpPr>
        <p:grpSpPr>
          <a:xfrm rot="11116781">
            <a:off x="5338628" y="13984321"/>
            <a:ext cx="1693205" cy="1693205"/>
            <a:chOff x="0" y="0"/>
            <a:chExt cx="812800" cy="812800"/>
          </a:xfrm>
        </p:grpSpPr>
        <p:sp>
          <p:nvSpPr>
            <p:cNvPr id="24" name="Freeform 13">
              <a:extLst>
                <a:ext uri="{FF2B5EF4-FFF2-40B4-BE49-F238E27FC236}">
                  <a16:creationId xmlns:a16="http://schemas.microsoft.com/office/drawing/2014/main" id="{1D1BF6F6-FEC1-50B3-62BA-F6282B61FD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25" name="TextBox 14">
              <a:extLst>
                <a:ext uri="{FF2B5EF4-FFF2-40B4-BE49-F238E27FC236}">
                  <a16:creationId xmlns:a16="http://schemas.microsoft.com/office/drawing/2014/main" id="{2A4A26D6-CFD8-7B26-3F5D-D809EA23478F}"/>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6" name="Group 15">
            <a:extLst>
              <a:ext uri="{FF2B5EF4-FFF2-40B4-BE49-F238E27FC236}">
                <a16:creationId xmlns:a16="http://schemas.microsoft.com/office/drawing/2014/main" id="{D47F64C8-2131-49A2-4E56-6516745C4D4A}"/>
              </a:ext>
            </a:extLst>
          </p:cNvPr>
          <p:cNvGrpSpPr/>
          <p:nvPr/>
        </p:nvGrpSpPr>
        <p:grpSpPr>
          <a:xfrm rot="11116781">
            <a:off x="9107121" y="12715994"/>
            <a:ext cx="1693205" cy="1693205"/>
            <a:chOff x="0" y="0"/>
            <a:chExt cx="812800" cy="812800"/>
          </a:xfrm>
        </p:grpSpPr>
        <p:sp>
          <p:nvSpPr>
            <p:cNvPr id="27" name="Freeform 16">
              <a:extLst>
                <a:ext uri="{FF2B5EF4-FFF2-40B4-BE49-F238E27FC236}">
                  <a16:creationId xmlns:a16="http://schemas.microsoft.com/office/drawing/2014/main" id="{797E7101-A089-AA6E-BD6D-88D5F6C944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28" name="TextBox 17">
              <a:extLst>
                <a:ext uri="{FF2B5EF4-FFF2-40B4-BE49-F238E27FC236}">
                  <a16:creationId xmlns:a16="http://schemas.microsoft.com/office/drawing/2014/main" id="{BAA38B69-B013-2E7B-6744-3FD05B67C16A}"/>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9" name="Group 18">
            <a:extLst>
              <a:ext uri="{FF2B5EF4-FFF2-40B4-BE49-F238E27FC236}">
                <a16:creationId xmlns:a16="http://schemas.microsoft.com/office/drawing/2014/main" id="{1A8E7AE0-D96E-5780-0865-FB4C6693DEDE}"/>
              </a:ext>
            </a:extLst>
          </p:cNvPr>
          <p:cNvGrpSpPr/>
          <p:nvPr/>
        </p:nvGrpSpPr>
        <p:grpSpPr>
          <a:xfrm rot="11116781">
            <a:off x="12876776" y="13984321"/>
            <a:ext cx="1693205" cy="1693205"/>
            <a:chOff x="0" y="0"/>
            <a:chExt cx="812800" cy="812800"/>
          </a:xfrm>
        </p:grpSpPr>
        <p:sp>
          <p:nvSpPr>
            <p:cNvPr id="30" name="Freeform 19">
              <a:extLst>
                <a:ext uri="{FF2B5EF4-FFF2-40B4-BE49-F238E27FC236}">
                  <a16:creationId xmlns:a16="http://schemas.microsoft.com/office/drawing/2014/main" id="{F3724A57-F4DB-3F9C-B365-9B4053F6CC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31" name="TextBox 20">
              <a:extLst>
                <a:ext uri="{FF2B5EF4-FFF2-40B4-BE49-F238E27FC236}">
                  <a16:creationId xmlns:a16="http://schemas.microsoft.com/office/drawing/2014/main" id="{86E4E8D1-1B70-CD4D-02BC-C5261D62166A}"/>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32" name="Group 21">
            <a:extLst>
              <a:ext uri="{FF2B5EF4-FFF2-40B4-BE49-F238E27FC236}">
                <a16:creationId xmlns:a16="http://schemas.microsoft.com/office/drawing/2014/main" id="{D0F98E00-6BF4-E9D5-7AB4-FA307D96FCD0}"/>
              </a:ext>
            </a:extLst>
          </p:cNvPr>
          <p:cNvGrpSpPr/>
          <p:nvPr/>
        </p:nvGrpSpPr>
        <p:grpSpPr>
          <a:xfrm rot="11116781">
            <a:off x="14942310" y="16886967"/>
            <a:ext cx="1693205" cy="1693205"/>
            <a:chOff x="0" y="0"/>
            <a:chExt cx="812800" cy="812800"/>
          </a:xfrm>
        </p:grpSpPr>
        <p:sp>
          <p:nvSpPr>
            <p:cNvPr id="33" name="Freeform 22">
              <a:extLst>
                <a:ext uri="{FF2B5EF4-FFF2-40B4-BE49-F238E27FC236}">
                  <a16:creationId xmlns:a16="http://schemas.microsoft.com/office/drawing/2014/main" id="{FD25770C-5925-1CB2-5AE0-DAE1B8F883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34" name="TextBox 23">
              <a:extLst>
                <a:ext uri="{FF2B5EF4-FFF2-40B4-BE49-F238E27FC236}">
                  <a16:creationId xmlns:a16="http://schemas.microsoft.com/office/drawing/2014/main" id="{083ACFC8-E6CA-392A-DB22-64723C22DDF6}"/>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35" name="Group 24">
            <a:extLst>
              <a:ext uri="{FF2B5EF4-FFF2-40B4-BE49-F238E27FC236}">
                <a16:creationId xmlns:a16="http://schemas.microsoft.com/office/drawing/2014/main" id="{CEBCC72C-F660-312E-B499-0C26FF6F7722}"/>
              </a:ext>
            </a:extLst>
          </p:cNvPr>
          <p:cNvGrpSpPr/>
          <p:nvPr/>
        </p:nvGrpSpPr>
        <p:grpSpPr>
          <a:xfrm rot="11116781">
            <a:off x="17338285" y="15870146"/>
            <a:ext cx="1311772" cy="1144881"/>
            <a:chOff x="0" y="0"/>
            <a:chExt cx="416043" cy="363112"/>
          </a:xfrm>
        </p:grpSpPr>
        <p:sp>
          <p:nvSpPr>
            <p:cNvPr id="36" name="Freeform 25">
              <a:extLst>
                <a:ext uri="{FF2B5EF4-FFF2-40B4-BE49-F238E27FC236}">
                  <a16:creationId xmlns:a16="http://schemas.microsoft.com/office/drawing/2014/main" id="{82342042-00C3-1BA9-EC24-C34A0F5FCC03}"/>
                </a:ext>
              </a:extLst>
            </p:cNvPr>
            <p:cNvSpPr/>
            <p:nvPr/>
          </p:nvSpPr>
          <p:spPr>
            <a:xfrm>
              <a:off x="0" y="0"/>
              <a:ext cx="416043" cy="363112"/>
            </a:xfrm>
            <a:custGeom>
              <a:avLst/>
              <a:gdLst/>
              <a:ahLst/>
              <a:cxnLst/>
              <a:rect l="l" t="t" r="r" b="b"/>
              <a:pathLst>
                <a:path w="416043" h="363112">
                  <a:moveTo>
                    <a:pt x="177056" y="0"/>
                  </a:moveTo>
                  <a:lnTo>
                    <a:pt x="238987" y="0"/>
                  </a:lnTo>
                  <a:cubicBezTo>
                    <a:pt x="336772" y="0"/>
                    <a:pt x="416043" y="79271"/>
                    <a:pt x="416043" y="177056"/>
                  </a:cubicBezTo>
                  <a:lnTo>
                    <a:pt x="416043" y="186055"/>
                  </a:lnTo>
                  <a:cubicBezTo>
                    <a:pt x="416043" y="283841"/>
                    <a:pt x="336772" y="363112"/>
                    <a:pt x="238987" y="363112"/>
                  </a:cubicBezTo>
                  <a:lnTo>
                    <a:pt x="177056" y="363112"/>
                  </a:lnTo>
                  <a:cubicBezTo>
                    <a:pt x="79271" y="363112"/>
                    <a:pt x="0" y="283841"/>
                    <a:pt x="0" y="186055"/>
                  </a:cubicBezTo>
                  <a:lnTo>
                    <a:pt x="0" y="177056"/>
                  </a:lnTo>
                  <a:cubicBezTo>
                    <a:pt x="0" y="79271"/>
                    <a:pt x="79271" y="0"/>
                    <a:pt x="177056"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37" name="TextBox 26">
              <a:extLst>
                <a:ext uri="{FF2B5EF4-FFF2-40B4-BE49-F238E27FC236}">
                  <a16:creationId xmlns:a16="http://schemas.microsoft.com/office/drawing/2014/main" id="{C15851DB-2988-13A7-9CB2-A54C5EB1A778}"/>
                </a:ext>
              </a:extLst>
            </p:cNvPr>
            <p:cNvSpPr txBox="1"/>
            <p:nvPr/>
          </p:nvSpPr>
          <p:spPr>
            <a:xfrm>
              <a:off x="0" y="-85725"/>
              <a:ext cx="416043" cy="448837"/>
            </a:xfrm>
            <a:prstGeom prst="rect">
              <a:avLst/>
            </a:prstGeom>
          </p:spPr>
          <p:txBody>
            <a:bodyPr lIns="50800" tIns="50800" rIns="50800" bIns="50800" rtlCol="0" anchor="ctr"/>
            <a:lstStyle/>
            <a:p>
              <a:pPr algn="ctr">
                <a:lnSpc>
                  <a:spcPts val="3161"/>
                </a:lnSpc>
              </a:pPr>
              <a:endParaRPr/>
            </a:p>
          </p:txBody>
        </p:sp>
      </p:grpSp>
      <p:grpSp>
        <p:nvGrpSpPr>
          <p:cNvPr id="38" name="Group 27">
            <a:extLst>
              <a:ext uri="{FF2B5EF4-FFF2-40B4-BE49-F238E27FC236}">
                <a16:creationId xmlns:a16="http://schemas.microsoft.com/office/drawing/2014/main" id="{D0A216DA-4F04-7CBC-1152-182FCD18DEDB}"/>
              </a:ext>
            </a:extLst>
          </p:cNvPr>
          <p:cNvGrpSpPr/>
          <p:nvPr/>
        </p:nvGrpSpPr>
        <p:grpSpPr>
          <a:xfrm rot="11116781">
            <a:off x="15379794" y="12742875"/>
            <a:ext cx="2548873" cy="1144881"/>
            <a:chOff x="0" y="0"/>
            <a:chExt cx="808403" cy="363112"/>
          </a:xfrm>
        </p:grpSpPr>
        <p:sp>
          <p:nvSpPr>
            <p:cNvPr id="39" name="Freeform 28">
              <a:extLst>
                <a:ext uri="{FF2B5EF4-FFF2-40B4-BE49-F238E27FC236}">
                  <a16:creationId xmlns:a16="http://schemas.microsoft.com/office/drawing/2014/main" id="{E9D6F083-22B4-320D-8720-E84FEDA89385}"/>
                </a:ext>
              </a:extLst>
            </p:cNvPr>
            <p:cNvSpPr/>
            <p:nvPr/>
          </p:nvSpPr>
          <p:spPr>
            <a:xfrm>
              <a:off x="0" y="0"/>
              <a:ext cx="808403" cy="363112"/>
            </a:xfrm>
            <a:custGeom>
              <a:avLst/>
              <a:gdLst/>
              <a:ahLst/>
              <a:cxnLst/>
              <a:rect l="l" t="t" r="r" b="b"/>
              <a:pathLst>
                <a:path w="808403" h="363112">
                  <a:moveTo>
                    <a:pt x="91122" y="0"/>
                  </a:moveTo>
                  <a:lnTo>
                    <a:pt x="717282" y="0"/>
                  </a:lnTo>
                  <a:cubicBezTo>
                    <a:pt x="767607" y="0"/>
                    <a:pt x="808403" y="40797"/>
                    <a:pt x="808403" y="91122"/>
                  </a:cubicBezTo>
                  <a:lnTo>
                    <a:pt x="808403" y="271990"/>
                  </a:lnTo>
                  <a:cubicBezTo>
                    <a:pt x="808403" y="296157"/>
                    <a:pt x="798803" y="319334"/>
                    <a:pt x="781714" y="336423"/>
                  </a:cubicBezTo>
                  <a:cubicBezTo>
                    <a:pt x="764626" y="353511"/>
                    <a:pt x="741449" y="363112"/>
                    <a:pt x="717282" y="363112"/>
                  </a:cubicBezTo>
                  <a:lnTo>
                    <a:pt x="91122" y="363112"/>
                  </a:lnTo>
                  <a:cubicBezTo>
                    <a:pt x="40797" y="363112"/>
                    <a:pt x="0" y="322315"/>
                    <a:pt x="0" y="271990"/>
                  </a:cubicBezTo>
                  <a:lnTo>
                    <a:pt x="0" y="91122"/>
                  </a:lnTo>
                  <a:cubicBezTo>
                    <a:pt x="0" y="40797"/>
                    <a:pt x="40797" y="0"/>
                    <a:pt x="91122"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40" name="TextBox 29">
              <a:extLst>
                <a:ext uri="{FF2B5EF4-FFF2-40B4-BE49-F238E27FC236}">
                  <a16:creationId xmlns:a16="http://schemas.microsoft.com/office/drawing/2014/main" id="{CD9729B2-19C2-FF0C-EFAF-AB98DE1D7EA8}"/>
                </a:ext>
              </a:extLst>
            </p:cNvPr>
            <p:cNvSpPr txBox="1"/>
            <p:nvPr/>
          </p:nvSpPr>
          <p:spPr>
            <a:xfrm>
              <a:off x="0" y="-85725"/>
              <a:ext cx="808403" cy="448837"/>
            </a:xfrm>
            <a:prstGeom prst="rect">
              <a:avLst/>
            </a:prstGeom>
          </p:spPr>
          <p:txBody>
            <a:bodyPr lIns="50800" tIns="50800" rIns="50800" bIns="50800" rtlCol="0" anchor="ctr"/>
            <a:lstStyle/>
            <a:p>
              <a:pPr algn="ctr">
                <a:lnSpc>
                  <a:spcPts val="3161"/>
                </a:lnSpc>
              </a:pPr>
              <a:endParaRPr/>
            </a:p>
          </p:txBody>
        </p:sp>
      </p:grpSp>
      <p:grpSp>
        <p:nvGrpSpPr>
          <p:cNvPr id="41" name="Group 30">
            <a:extLst>
              <a:ext uri="{FF2B5EF4-FFF2-40B4-BE49-F238E27FC236}">
                <a16:creationId xmlns:a16="http://schemas.microsoft.com/office/drawing/2014/main" id="{F290277A-E576-7CD8-C0DC-FAE2455DDB09}"/>
              </a:ext>
            </a:extLst>
          </p:cNvPr>
          <p:cNvGrpSpPr/>
          <p:nvPr/>
        </p:nvGrpSpPr>
        <p:grpSpPr>
          <a:xfrm rot="11116781">
            <a:off x="10198257" y="11524428"/>
            <a:ext cx="2087283" cy="1144881"/>
            <a:chOff x="0" y="0"/>
            <a:chExt cx="662005" cy="363112"/>
          </a:xfrm>
        </p:grpSpPr>
        <p:sp>
          <p:nvSpPr>
            <p:cNvPr id="42" name="Freeform 31">
              <a:extLst>
                <a:ext uri="{FF2B5EF4-FFF2-40B4-BE49-F238E27FC236}">
                  <a16:creationId xmlns:a16="http://schemas.microsoft.com/office/drawing/2014/main" id="{F9FED7A4-EA65-D0C3-63BD-6B1AB380D645}"/>
                </a:ext>
              </a:extLst>
            </p:cNvPr>
            <p:cNvSpPr/>
            <p:nvPr/>
          </p:nvSpPr>
          <p:spPr>
            <a:xfrm>
              <a:off x="0" y="0"/>
              <a:ext cx="662005" cy="363112"/>
            </a:xfrm>
            <a:custGeom>
              <a:avLst/>
              <a:gdLst/>
              <a:ahLst/>
              <a:cxnLst/>
              <a:rect l="l" t="t" r="r" b="b"/>
              <a:pathLst>
                <a:path w="662005" h="363112">
                  <a:moveTo>
                    <a:pt x="111273" y="0"/>
                  </a:moveTo>
                  <a:lnTo>
                    <a:pt x="550732" y="0"/>
                  </a:lnTo>
                  <a:cubicBezTo>
                    <a:pt x="580244" y="0"/>
                    <a:pt x="608546" y="11723"/>
                    <a:pt x="629414" y="32591"/>
                  </a:cubicBezTo>
                  <a:cubicBezTo>
                    <a:pt x="650282" y="53459"/>
                    <a:pt x="662005" y="81761"/>
                    <a:pt x="662005" y="111273"/>
                  </a:cubicBezTo>
                  <a:lnTo>
                    <a:pt x="662005" y="251839"/>
                  </a:lnTo>
                  <a:cubicBezTo>
                    <a:pt x="662005" y="281350"/>
                    <a:pt x="650282" y="309653"/>
                    <a:pt x="629414" y="330521"/>
                  </a:cubicBezTo>
                  <a:cubicBezTo>
                    <a:pt x="608546" y="351388"/>
                    <a:pt x="580244" y="363112"/>
                    <a:pt x="550732" y="363112"/>
                  </a:cubicBezTo>
                  <a:lnTo>
                    <a:pt x="111273" y="363112"/>
                  </a:lnTo>
                  <a:cubicBezTo>
                    <a:pt x="81761" y="363112"/>
                    <a:pt x="53459" y="351388"/>
                    <a:pt x="32591" y="330521"/>
                  </a:cubicBezTo>
                  <a:cubicBezTo>
                    <a:pt x="11723" y="309653"/>
                    <a:pt x="0" y="281350"/>
                    <a:pt x="0" y="251839"/>
                  </a:cubicBezTo>
                  <a:lnTo>
                    <a:pt x="0" y="111273"/>
                  </a:lnTo>
                  <a:cubicBezTo>
                    <a:pt x="0" y="81761"/>
                    <a:pt x="11723" y="53459"/>
                    <a:pt x="32591" y="32591"/>
                  </a:cubicBezTo>
                  <a:cubicBezTo>
                    <a:pt x="53459" y="11723"/>
                    <a:pt x="81761" y="0"/>
                    <a:pt x="111273"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43" name="TextBox 32">
              <a:extLst>
                <a:ext uri="{FF2B5EF4-FFF2-40B4-BE49-F238E27FC236}">
                  <a16:creationId xmlns:a16="http://schemas.microsoft.com/office/drawing/2014/main" id="{5E90819F-33AC-7F31-A346-0B211D1A8688}"/>
                </a:ext>
              </a:extLst>
            </p:cNvPr>
            <p:cNvSpPr txBox="1"/>
            <p:nvPr/>
          </p:nvSpPr>
          <p:spPr>
            <a:xfrm>
              <a:off x="0" y="-85725"/>
              <a:ext cx="662005" cy="448837"/>
            </a:xfrm>
            <a:prstGeom prst="rect">
              <a:avLst/>
            </a:prstGeom>
          </p:spPr>
          <p:txBody>
            <a:bodyPr lIns="50800" tIns="50800" rIns="50800" bIns="50800" rtlCol="0" anchor="ctr"/>
            <a:lstStyle/>
            <a:p>
              <a:pPr algn="ctr">
                <a:lnSpc>
                  <a:spcPts val="3161"/>
                </a:lnSpc>
              </a:pPr>
              <a:endParaRPr/>
            </a:p>
          </p:txBody>
        </p:sp>
      </p:grpSp>
      <p:grpSp>
        <p:nvGrpSpPr>
          <p:cNvPr id="44" name="Group 33">
            <a:extLst>
              <a:ext uri="{FF2B5EF4-FFF2-40B4-BE49-F238E27FC236}">
                <a16:creationId xmlns:a16="http://schemas.microsoft.com/office/drawing/2014/main" id="{BCBDF726-BEED-7D29-F047-DF2D53D18790}"/>
              </a:ext>
            </a:extLst>
          </p:cNvPr>
          <p:cNvGrpSpPr/>
          <p:nvPr/>
        </p:nvGrpSpPr>
        <p:grpSpPr>
          <a:xfrm rot="11116781">
            <a:off x="5456474" y="12742875"/>
            <a:ext cx="2548873" cy="1144881"/>
            <a:chOff x="0" y="0"/>
            <a:chExt cx="808403" cy="363112"/>
          </a:xfrm>
        </p:grpSpPr>
        <p:sp>
          <p:nvSpPr>
            <p:cNvPr id="45" name="Freeform 34">
              <a:extLst>
                <a:ext uri="{FF2B5EF4-FFF2-40B4-BE49-F238E27FC236}">
                  <a16:creationId xmlns:a16="http://schemas.microsoft.com/office/drawing/2014/main" id="{E1894F25-3C87-8FCD-A4D8-F2D4614FC587}"/>
                </a:ext>
              </a:extLst>
            </p:cNvPr>
            <p:cNvSpPr/>
            <p:nvPr/>
          </p:nvSpPr>
          <p:spPr>
            <a:xfrm>
              <a:off x="0" y="0"/>
              <a:ext cx="808403" cy="363112"/>
            </a:xfrm>
            <a:custGeom>
              <a:avLst/>
              <a:gdLst/>
              <a:ahLst/>
              <a:cxnLst/>
              <a:rect l="l" t="t" r="r" b="b"/>
              <a:pathLst>
                <a:path w="808403" h="363112">
                  <a:moveTo>
                    <a:pt x="91122" y="0"/>
                  </a:moveTo>
                  <a:lnTo>
                    <a:pt x="717282" y="0"/>
                  </a:lnTo>
                  <a:cubicBezTo>
                    <a:pt x="767607" y="0"/>
                    <a:pt x="808403" y="40797"/>
                    <a:pt x="808403" y="91122"/>
                  </a:cubicBezTo>
                  <a:lnTo>
                    <a:pt x="808403" y="271990"/>
                  </a:lnTo>
                  <a:cubicBezTo>
                    <a:pt x="808403" y="296157"/>
                    <a:pt x="798803" y="319334"/>
                    <a:pt x="781714" y="336423"/>
                  </a:cubicBezTo>
                  <a:cubicBezTo>
                    <a:pt x="764626" y="353511"/>
                    <a:pt x="741449" y="363112"/>
                    <a:pt x="717282" y="363112"/>
                  </a:cubicBezTo>
                  <a:lnTo>
                    <a:pt x="91122" y="363112"/>
                  </a:lnTo>
                  <a:cubicBezTo>
                    <a:pt x="40797" y="363112"/>
                    <a:pt x="0" y="322315"/>
                    <a:pt x="0" y="271990"/>
                  </a:cubicBezTo>
                  <a:lnTo>
                    <a:pt x="0" y="91122"/>
                  </a:lnTo>
                  <a:cubicBezTo>
                    <a:pt x="0" y="40797"/>
                    <a:pt x="40797" y="0"/>
                    <a:pt x="91122"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46" name="TextBox 35">
              <a:extLst>
                <a:ext uri="{FF2B5EF4-FFF2-40B4-BE49-F238E27FC236}">
                  <a16:creationId xmlns:a16="http://schemas.microsoft.com/office/drawing/2014/main" id="{B5C72263-6831-DA08-5CF8-BEBFD48218C3}"/>
                </a:ext>
              </a:extLst>
            </p:cNvPr>
            <p:cNvSpPr txBox="1"/>
            <p:nvPr/>
          </p:nvSpPr>
          <p:spPr>
            <a:xfrm>
              <a:off x="0" y="-85725"/>
              <a:ext cx="808403" cy="448837"/>
            </a:xfrm>
            <a:prstGeom prst="rect">
              <a:avLst/>
            </a:prstGeom>
          </p:spPr>
          <p:txBody>
            <a:bodyPr lIns="50800" tIns="50800" rIns="50800" bIns="50800" rtlCol="0" anchor="ctr"/>
            <a:lstStyle/>
            <a:p>
              <a:pPr algn="ctr">
                <a:lnSpc>
                  <a:spcPts val="3161"/>
                </a:lnSpc>
              </a:pPr>
              <a:endParaRPr/>
            </a:p>
          </p:txBody>
        </p:sp>
      </p:grpSp>
      <p:grpSp>
        <p:nvGrpSpPr>
          <p:cNvPr id="47" name="Group 36">
            <a:extLst>
              <a:ext uri="{FF2B5EF4-FFF2-40B4-BE49-F238E27FC236}">
                <a16:creationId xmlns:a16="http://schemas.microsoft.com/office/drawing/2014/main" id="{8A24A3DE-D383-8437-CAA3-C5D5D18F7BA6}"/>
              </a:ext>
            </a:extLst>
          </p:cNvPr>
          <p:cNvGrpSpPr/>
          <p:nvPr/>
        </p:nvGrpSpPr>
        <p:grpSpPr>
          <a:xfrm rot="11116781">
            <a:off x="2859246" y="15297706"/>
            <a:ext cx="1822188" cy="1589262"/>
            <a:chOff x="0" y="0"/>
            <a:chExt cx="577927" cy="504052"/>
          </a:xfrm>
        </p:grpSpPr>
        <p:sp>
          <p:nvSpPr>
            <p:cNvPr id="48" name="Freeform 37">
              <a:extLst>
                <a:ext uri="{FF2B5EF4-FFF2-40B4-BE49-F238E27FC236}">
                  <a16:creationId xmlns:a16="http://schemas.microsoft.com/office/drawing/2014/main" id="{2A4E5054-2034-41F0-3684-BC89192BFF25}"/>
                </a:ext>
              </a:extLst>
            </p:cNvPr>
            <p:cNvSpPr/>
            <p:nvPr/>
          </p:nvSpPr>
          <p:spPr>
            <a:xfrm>
              <a:off x="0" y="0"/>
              <a:ext cx="577927" cy="504052"/>
            </a:xfrm>
            <a:custGeom>
              <a:avLst/>
              <a:gdLst/>
              <a:ahLst/>
              <a:cxnLst/>
              <a:rect l="l" t="t" r="r" b="b"/>
              <a:pathLst>
                <a:path w="577927" h="504052">
                  <a:moveTo>
                    <a:pt x="127461" y="0"/>
                  </a:moveTo>
                  <a:lnTo>
                    <a:pt x="450466" y="0"/>
                  </a:lnTo>
                  <a:cubicBezTo>
                    <a:pt x="520861" y="0"/>
                    <a:pt x="577927" y="57066"/>
                    <a:pt x="577927" y="127461"/>
                  </a:cubicBezTo>
                  <a:lnTo>
                    <a:pt x="577927" y="376591"/>
                  </a:lnTo>
                  <a:cubicBezTo>
                    <a:pt x="577927" y="410396"/>
                    <a:pt x="564498" y="442816"/>
                    <a:pt x="540595" y="466720"/>
                  </a:cubicBezTo>
                  <a:cubicBezTo>
                    <a:pt x="516691" y="490623"/>
                    <a:pt x="484271" y="504052"/>
                    <a:pt x="450466" y="504052"/>
                  </a:cubicBezTo>
                  <a:lnTo>
                    <a:pt x="127461" y="504052"/>
                  </a:lnTo>
                  <a:cubicBezTo>
                    <a:pt x="93656" y="504052"/>
                    <a:pt x="61236" y="490623"/>
                    <a:pt x="37332" y="466720"/>
                  </a:cubicBezTo>
                  <a:cubicBezTo>
                    <a:pt x="13429" y="442816"/>
                    <a:pt x="0" y="410396"/>
                    <a:pt x="0" y="376591"/>
                  </a:cubicBezTo>
                  <a:lnTo>
                    <a:pt x="0" y="127461"/>
                  </a:lnTo>
                  <a:cubicBezTo>
                    <a:pt x="0" y="93656"/>
                    <a:pt x="13429" y="61236"/>
                    <a:pt x="37332" y="37332"/>
                  </a:cubicBezTo>
                  <a:cubicBezTo>
                    <a:pt x="61236" y="13429"/>
                    <a:pt x="93656" y="0"/>
                    <a:pt x="127461"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49" name="TextBox 38">
              <a:extLst>
                <a:ext uri="{FF2B5EF4-FFF2-40B4-BE49-F238E27FC236}">
                  <a16:creationId xmlns:a16="http://schemas.microsoft.com/office/drawing/2014/main" id="{90B38034-5300-0AFE-CDA7-99D25A8CDCCE}"/>
                </a:ext>
              </a:extLst>
            </p:cNvPr>
            <p:cNvSpPr txBox="1"/>
            <p:nvPr/>
          </p:nvSpPr>
          <p:spPr>
            <a:xfrm>
              <a:off x="0" y="-85725"/>
              <a:ext cx="577927" cy="589777"/>
            </a:xfrm>
            <a:prstGeom prst="rect">
              <a:avLst/>
            </a:prstGeom>
          </p:spPr>
          <p:txBody>
            <a:bodyPr lIns="50800" tIns="50800" rIns="50800" bIns="50800" rtlCol="0" anchor="ctr"/>
            <a:lstStyle/>
            <a:p>
              <a:pPr algn="ctr">
                <a:lnSpc>
                  <a:spcPts val="3161"/>
                </a:lnSpc>
              </a:pPr>
              <a:endParaRPr/>
            </a:p>
          </p:txBody>
        </p:sp>
      </p:grpSp>
      <p:sp>
        <p:nvSpPr>
          <p:cNvPr id="50" name="TextBox 40">
            <a:extLst>
              <a:ext uri="{FF2B5EF4-FFF2-40B4-BE49-F238E27FC236}">
                <a16:creationId xmlns:a16="http://schemas.microsoft.com/office/drawing/2014/main" id="{99C4BAA0-97F1-B7F9-539D-B5557946FD45}"/>
              </a:ext>
            </a:extLst>
          </p:cNvPr>
          <p:cNvSpPr txBox="1"/>
          <p:nvPr/>
        </p:nvSpPr>
        <p:spPr>
          <a:xfrm rot="11116781">
            <a:off x="15646860" y="15547181"/>
            <a:ext cx="2695621" cy="1217092"/>
          </a:xfrm>
          <a:prstGeom prst="rect">
            <a:avLst/>
          </a:prstGeom>
        </p:spPr>
        <p:txBody>
          <a:bodyPr lIns="0" tIns="0" rIns="0" bIns="0" rtlCol="0" anchor="t">
            <a:spAutoFit/>
          </a:bodyPr>
          <a:lstStyle/>
          <a:p>
            <a:pPr algn="r" rtl="1">
              <a:lnSpc>
                <a:spcPts val="3125"/>
              </a:lnSpc>
            </a:pPr>
            <a:r>
              <a:rPr lang="ar-EG" sz="2604" b="1">
                <a:solidFill>
                  <a:srgbClr val="E9F4FA"/>
                </a:solidFill>
                <a:latin typeface="GE SS Two Medium"/>
                <a:ea typeface="GE SS Two Medium"/>
                <a:cs typeface="GE SS Two Medium"/>
                <a:sym typeface="GE SS Two Medium"/>
                <a:rtl/>
              </a:rPr>
              <a:t>اختيار الشجرة: اختيار الأشجار المناسبة للجمع. </a:t>
            </a:r>
          </a:p>
        </p:txBody>
      </p:sp>
      <p:sp>
        <p:nvSpPr>
          <p:cNvPr id="51" name="TextBox 41">
            <a:extLst>
              <a:ext uri="{FF2B5EF4-FFF2-40B4-BE49-F238E27FC236}">
                <a16:creationId xmlns:a16="http://schemas.microsoft.com/office/drawing/2014/main" id="{455CEA8F-DAF9-C7F5-7421-76523C49B1CD}"/>
              </a:ext>
            </a:extLst>
          </p:cNvPr>
          <p:cNvSpPr txBox="1"/>
          <p:nvPr/>
        </p:nvSpPr>
        <p:spPr>
          <a:xfrm rot="11116781">
            <a:off x="12062700" y="12813569"/>
            <a:ext cx="5506463"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خدش اللحاء: إحداث خدوش سطحية بأداة تقليدية تُسمى «المنجف». </a:t>
            </a:r>
          </a:p>
        </p:txBody>
      </p:sp>
      <p:sp>
        <p:nvSpPr>
          <p:cNvPr id="52" name="TextBox 42">
            <a:extLst>
              <a:ext uri="{FF2B5EF4-FFF2-40B4-BE49-F238E27FC236}">
                <a16:creationId xmlns:a16="http://schemas.microsoft.com/office/drawing/2014/main" id="{62296584-C65F-F67E-0C75-08DEB148D8C9}"/>
              </a:ext>
            </a:extLst>
          </p:cNvPr>
          <p:cNvSpPr txBox="1"/>
          <p:nvPr/>
        </p:nvSpPr>
        <p:spPr>
          <a:xfrm rot="11116781">
            <a:off x="6730911" y="11639669"/>
            <a:ext cx="5253708"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تجفيف الإفرازات: ترك المادة الصمغية حتى تتصلب. </a:t>
            </a:r>
          </a:p>
        </p:txBody>
      </p:sp>
      <p:sp>
        <p:nvSpPr>
          <p:cNvPr id="53" name="TextBox 43">
            <a:extLst>
              <a:ext uri="{FF2B5EF4-FFF2-40B4-BE49-F238E27FC236}">
                <a16:creationId xmlns:a16="http://schemas.microsoft.com/office/drawing/2014/main" id="{C22687AB-2E69-156B-E0D9-9910E392541A}"/>
              </a:ext>
            </a:extLst>
          </p:cNvPr>
          <p:cNvSpPr txBox="1"/>
          <p:nvPr/>
        </p:nvSpPr>
        <p:spPr>
          <a:xfrm rot="11116781">
            <a:off x="3168750" y="12858869"/>
            <a:ext cx="4503523"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جمع اللبان: جمع القطع المتصلبة من الشجرة بعناية. </a:t>
            </a:r>
          </a:p>
        </p:txBody>
      </p:sp>
      <p:sp>
        <p:nvSpPr>
          <p:cNvPr id="54" name="TextBox 44">
            <a:extLst>
              <a:ext uri="{FF2B5EF4-FFF2-40B4-BE49-F238E27FC236}">
                <a16:creationId xmlns:a16="http://schemas.microsoft.com/office/drawing/2014/main" id="{94757180-EF54-C064-96DF-38BBCCD4D2F1}"/>
              </a:ext>
            </a:extLst>
          </p:cNvPr>
          <p:cNvSpPr txBox="1"/>
          <p:nvPr/>
        </p:nvSpPr>
        <p:spPr>
          <a:xfrm rot="11116781">
            <a:off x="1157464" y="15373623"/>
            <a:ext cx="3600450" cy="1276350"/>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التنظيف والفرز: تنظيف اللبان وتصنيفه حسب اللون والحجم والنقاء. </a:t>
            </a:r>
          </a:p>
        </p:txBody>
      </p:sp>
      <p:sp>
        <p:nvSpPr>
          <p:cNvPr id="55" name="TextBox 45">
            <a:extLst>
              <a:ext uri="{FF2B5EF4-FFF2-40B4-BE49-F238E27FC236}">
                <a16:creationId xmlns:a16="http://schemas.microsoft.com/office/drawing/2014/main" id="{3F05D276-3591-1EFD-2A0A-8FC32FFCE971}"/>
              </a:ext>
            </a:extLst>
          </p:cNvPr>
          <p:cNvSpPr txBox="1"/>
          <p:nvPr/>
        </p:nvSpPr>
        <p:spPr>
          <a:xfrm rot="11116781">
            <a:off x="15016949" y="17278593"/>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1</a:t>
            </a:r>
          </a:p>
        </p:txBody>
      </p:sp>
      <p:sp>
        <p:nvSpPr>
          <p:cNvPr id="56" name="TextBox 46">
            <a:extLst>
              <a:ext uri="{FF2B5EF4-FFF2-40B4-BE49-F238E27FC236}">
                <a16:creationId xmlns:a16="http://schemas.microsoft.com/office/drawing/2014/main" id="{36334AE6-4C79-338C-AF6F-9D661BD5C12C}"/>
              </a:ext>
            </a:extLst>
          </p:cNvPr>
          <p:cNvSpPr txBox="1"/>
          <p:nvPr/>
        </p:nvSpPr>
        <p:spPr>
          <a:xfrm rot="11116781">
            <a:off x="12951416" y="14345148"/>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2</a:t>
            </a:r>
          </a:p>
        </p:txBody>
      </p:sp>
      <p:sp>
        <p:nvSpPr>
          <p:cNvPr id="57" name="TextBox 47">
            <a:extLst>
              <a:ext uri="{FF2B5EF4-FFF2-40B4-BE49-F238E27FC236}">
                <a16:creationId xmlns:a16="http://schemas.microsoft.com/office/drawing/2014/main" id="{C6F46EE5-5280-DD94-B660-27F9FD10DCB4}"/>
              </a:ext>
            </a:extLst>
          </p:cNvPr>
          <p:cNvSpPr txBox="1"/>
          <p:nvPr/>
        </p:nvSpPr>
        <p:spPr>
          <a:xfrm rot="11116781">
            <a:off x="9192300" y="13040784"/>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3</a:t>
            </a:r>
          </a:p>
        </p:txBody>
      </p:sp>
      <p:sp>
        <p:nvSpPr>
          <p:cNvPr id="58" name="TextBox 48">
            <a:extLst>
              <a:ext uri="{FF2B5EF4-FFF2-40B4-BE49-F238E27FC236}">
                <a16:creationId xmlns:a16="http://schemas.microsoft.com/office/drawing/2014/main" id="{AE4F55BF-6928-9F49-8614-0B66152AF21A}"/>
              </a:ext>
            </a:extLst>
          </p:cNvPr>
          <p:cNvSpPr txBox="1"/>
          <p:nvPr/>
        </p:nvSpPr>
        <p:spPr>
          <a:xfrm rot="11116781">
            <a:off x="5413268" y="14345148"/>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4</a:t>
            </a:r>
          </a:p>
        </p:txBody>
      </p:sp>
      <p:sp>
        <p:nvSpPr>
          <p:cNvPr id="59" name="TextBox 49">
            <a:extLst>
              <a:ext uri="{FF2B5EF4-FFF2-40B4-BE49-F238E27FC236}">
                <a16:creationId xmlns:a16="http://schemas.microsoft.com/office/drawing/2014/main" id="{11180A91-9C1F-3EA4-0CFD-25D80EEB9F68}"/>
              </a:ext>
            </a:extLst>
          </p:cNvPr>
          <p:cNvSpPr txBox="1"/>
          <p:nvPr/>
        </p:nvSpPr>
        <p:spPr>
          <a:xfrm rot="11116781">
            <a:off x="3457039" y="17278593"/>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5</a:t>
            </a:r>
          </a:p>
        </p:txBody>
      </p:sp>
      <p:grpSp>
        <p:nvGrpSpPr>
          <p:cNvPr id="60" name="Group 50">
            <a:extLst>
              <a:ext uri="{FF2B5EF4-FFF2-40B4-BE49-F238E27FC236}">
                <a16:creationId xmlns:a16="http://schemas.microsoft.com/office/drawing/2014/main" id="{83CC252C-1381-9A96-6780-7A1A13208B87}"/>
              </a:ext>
            </a:extLst>
          </p:cNvPr>
          <p:cNvGrpSpPr/>
          <p:nvPr/>
        </p:nvGrpSpPr>
        <p:grpSpPr>
          <a:xfrm rot="11116781">
            <a:off x="5760264" y="18255156"/>
            <a:ext cx="8141654" cy="1430999"/>
            <a:chOff x="0" y="0"/>
            <a:chExt cx="2582216" cy="453857"/>
          </a:xfrm>
        </p:grpSpPr>
        <p:sp>
          <p:nvSpPr>
            <p:cNvPr id="61" name="Freeform 51">
              <a:extLst>
                <a:ext uri="{FF2B5EF4-FFF2-40B4-BE49-F238E27FC236}">
                  <a16:creationId xmlns:a16="http://schemas.microsoft.com/office/drawing/2014/main" id="{4ED5CD37-F45E-09D9-9324-8233A159ECD4}"/>
                </a:ext>
              </a:extLst>
            </p:cNvPr>
            <p:cNvSpPr/>
            <p:nvPr/>
          </p:nvSpPr>
          <p:spPr>
            <a:xfrm>
              <a:off x="0" y="0"/>
              <a:ext cx="2582216" cy="453857"/>
            </a:xfrm>
            <a:custGeom>
              <a:avLst/>
              <a:gdLst/>
              <a:ahLst/>
              <a:cxnLst/>
              <a:rect l="l" t="t" r="r" b="b"/>
              <a:pathLst>
                <a:path w="2582216" h="453857">
                  <a:moveTo>
                    <a:pt x="28527" y="0"/>
                  </a:moveTo>
                  <a:lnTo>
                    <a:pt x="2553689" y="0"/>
                  </a:lnTo>
                  <a:cubicBezTo>
                    <a:pt x="2569444" y="0"/>
                    <a:pt x="2582216" y="12772"/>
                    <a:pt x="2582216" y="28527"/>
                  </a:cubicBezTo>
                  <a:lnTo>
                    <a:pt x="2582216" y="425330"/>
                  </a:lnTo>
                  <a:cubicBezTo>
                    <a:pt x="2582216" y="441085"/>
                    <a:pt x="2569444" y="453857"/>
                    <a:pt x="2553689" y="453857"/>
                  </a:cubicBezTo>
                  <a:lnTo>
                    <a:pt x="28527" y="453857"/>
                  </a:lnTo>
                  <a:cubicBezTo>
                    <a:pt x="12772" y="453857"/>
                    <a:pt x="0" y="441085"/>
                    <a:pt x="0" y="425330"/>
                  </a:cubicBezTo>
                  <a:lnTo>
                    <a:pt x="0" y="28527"/>
                  </a:lnTo>
                  <a:cubicBezTo>
                    <a:pt x="0" y="12772"/>
                    <a:pt x="12772" y="0"/>
                    <a:pt x="28527"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62" name="TextBox 52">
              <a:extLst>
                <a:ext uri="{FF2B5EF4-FFF2-40B4-BE49-F238E27FC236}">
                  <a16:creationId xmlns:a16="http://schemas.microsoft.com/office/drawing/2014/main" id="{C2756324-F483-521A-34FC-E878BE0801DB}"/>
                </a:ext>
              </a:extLst>
            </p:cNvPr>
            <p:cNvSpPr txBox="1"/>
            <p:nvPr/>
          </p:nvSpPr>
          <p:spPr>
            <a:xfrm>
              <a:off x="0" y="-85725"/>
              <a:ext cx="2582216" cy="539582"/>
            </a:xfrm>
            <a:prstGeom prst="rect">
              <a:avLst/>
            </a:prstGeom>
          </p:spPr>
          <p:txBody>
            <a:bodyPr lIns="50800" tIns="50800" rIns="50800" bIns="50800" rtlCol="0" anchor="ctr"/>
            <a:lstStyle/>
            <a:p>
              <a:pPr algn="ctr">
                <a:lnSpc>
                  <a:spcPts val="3161"/>
                </a:lnSpc>
              </a:pPr>
              <a:endParaRPr/>
            </a:p>
          </p:txBody>
        </p:sp>
      </p:grpSp>
      <p:sp>
        <p:nvSpPr>
          <p:cNvPr id="63" name="TextBox 53">
            <a:extLst>
              <a:ext uri="{FF2B5EF4-FFF2-40B4-BE49-F238E27FC236}">
                <a16:creationId xmlns:a16="http://schemas.microsoft.com/office/drawing/2014/main" id="{7C283954-8DD1-F750-75A9-6D58DEEBD095}"/>
              </a:ext>
            </a:extLst>
          </p:cNvPr>
          <p:cNvSpPr txBox="1"/>
          <p:nvPr/>
        </p:nvSpPr>
        <p:spPr>
          <a:xfrm rot="11116781">
            <a:off x="6086490" y="18270813"/>
            <a:ext cx="7431546" cy="1226008"/>
          </a:xfrm>
          <a:prstGeom prst="rect">
            <a:avLst/>
          </a:prstGeom>
        </p:spPr>
        <p:txBody>
          <a:bodyPr lIns="0" tIns="0" rIns="0" bIns="0" rtlCol="0" anchor="t">
            <a:spAutoFit/>
          </a:bodyPr>
          <a:lstStyle/>
          <a:p>
            <a:pPr algn="r" rtl="1">
              <a:lnSpc>
                <a:spcPts val="3795"/>
              </a:lnSpc>
              <a:spcBef>
                <a:spcPct val="0"/>
              </a:spcBef>
            </a:pPr>
            <a:r>
              <a:rPr lang="ar-EG" sz="2711" b="1">
                <a:solidFill>
                  <a:srgbClr val="FFFFFF"/>
                </a:solidFill>
                <a:latin typeface="GE SS Two Medium"/>
                <a:ea typeface="GE SS Two Medium"/>
                <a:cs typeface="GE SS Two Medium"/>
                <a:sym typeface="GE SS Two Medium"/>
                <a:rtl/>
              </a:rPr>
              <a:t>معلومة مهمة:</a:t>
            </a:r>
          </a:p>
          <a:p>
            <a:pPr algn="r" rtl="1">
              <a:lnSpc>
                <a:spcPts val="2802"/>
              </a:lnSpc>
              <a:spcBef>
                <a:spcPct val="0"/>
              </a:spcBef>
            </a:pPr>
            <a:r>
              <a:rPr lang="ar-EG" sz="2001" b="1">
                <a:solidFill>
                  <a:srgbClr val="FFFFFF"/>
                </a:solidFill>
                <a:latin typeface="GE SS Two Medium"/>
                <a:ea typeface="GE SS Two Medium"/>
                <a:cs typeface="GE SS Two Medium"/>
                <a:sym typeface="GE SS Two Medium"/>
                <a:rtl/>
              </a:rPr>
              <a:t> يجب تجنب الإفراط في خدش الشجرة؛ للحفاظ على صحتها وضمان استمرار إنتاج اللبان مستقبلًا.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55" name="Freeform 2">
            <a:extLst>
              <a:ext uri="{FF2B5EF4-FFF2-40B4-BE49-F238E27FC236}">
                <a16:creationId xmlns:a16="http://schemas.microsoft.com/office/drawing/2014/main" id="{739520AD-EEA5-799C-CA42-DDC4FE3B2D05}"/>
              </a:ext>
            </a:extLst>
          </p:cNvPr>
          <p:cNvSpPr/>
          <p:nvPr/>
        </p:nvSpPr>
        <p:spPr>
          <a:xfrm>
            <a:off x="-5305499" y="-4170182"/>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rot="-2384425">
            <a:off x="3128775" y="4271775"/>
            <a:ext cx="12030449" cy="12030449"/>
          </a:xfrm>
          <a:custGeom>
            <a:avLst/>
            <a:gdLst/>
            <a:ahLst/>
            <a:cxnLst/>
            <a:rect l="l" t="t" r="r" b="b"/>
            <a:pathLst>
              <a:path w="12030449" h="12030449">
                <a:moveTo>
                  <a:pt x="0" y="0"/>
                </a:moveTo>
                <a:lnTo>
                  <a:pt x="12030450" y="0"/>
                </a:lnTo>
                <a:lnTo>
                  <a:pt x="12030450" y="12030450"/>
                </a:lnTo>
                <a:lnTo>
                  <a:pt x="0" y="120304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13815988" y="6327075"/>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sp>
        <p:nvSpPr>
          <p:cNvPr id="4" name="Freeform 4"/>
          <p:cNvSpPr/>
          <p:nvPr/>
        </p:nvSpPr>
        <p:spPr>
          <a:xfrm>
            <a:off x="13081656" y="-3726137"/>
            <a:ext cx="8355287" cy="8355287"/>
          </a:xfrm>
          <a:custGeom>
            <a:avLst/>
            <a:gdLst/>
            <a:ahLst/>
            <a:cxnLst/>
            <a:rect l="l" t="t" r="r" b="b"/>
            <a:pathLst>
              <a:path w="8355287" h="8355287">
                <a:moveTo>
                  <a:pt x="0" y="0"/>
                </a:moveTo>
                <a:lnTo>
                  <a:pt x="8355288" y="0"/>
                </a:lnTo>
                <a:lnTo>
                  <a:pt x="8355288" y="8355287"/>
                </a:lnTo>
                <a:lnTo>
                  <a:pt x="0" y="8355287"/>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txBody>
          <a:bodyPr/>
          <a:lstStyle/>
          <a:p>
            <a:endParaRPr lang="ar-OM"/>
          </a:p>
        </p:txBody>
      </p:sp>
      <p:sp>
        <p:nvSpPr>
          <p:cNvPr id="5" name="Freeform 5"/>
          <p:cNvSpPr/>
          <p:nvPr/>
        </p:nvSpPr>
        <p:spPr>
          <a:xfrm>
            <a:off x="-2945559" y="-25717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txBody>
          <a:bodyPr/>
          <a:lstStyle/>
          <a:p>
            <a:endParaRPr lang="ar-OM"/>
          </a:p>
        </p:txBody>
      </p:sp>
      <p:sp>
        <p:nvSpPr>
          <p:cNvPr id="6" name="Freeform 6"/>
          <p:cNvSpPr/>
          <p:nvPr/>
        </p:nvSpPr>
        <p:spPr>
          <a:xfrm>
            <a:off x="-5275753" y="5505900"/>
            <a:ext cx="10551506" cy="10551506"/>
          </a:xfrm>
          <a:custGeom>
            <a:avLst/>
            <a:gdLst/>
            <a:ahLst/>
            <a:cxnLst/>
            <a:rect l="l" t="t" r="r" b="b"/>
            <a:pathLst>
              <a:path w="10551506" h="10551506">
                <a:moveTo>
                  <a:pt x="0" y="0"/>
                </a:moveTo>
                <a:lnTo>
                  <a:pt x="10551506" y="0"/>
                </a:lnTo>
                <a:lnTo>
                  <a:pt x="10551506" y="10551506"/>
                </a:lnTo>
                <a:lnTo>
                  <a:pt x="0" y="105515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7" name="Group 7"/>
          <p:cNvGrpSpPr/>
          <p:nvPr/>
        </p:nvGrpSpPr>
        <p:grpSpPr>
          <a:xfrm>
            <a:off x="4118627" y="5261627"/>
            <a:ext cx="10050746" cy="5025373"/>
            <a:chOff x="0" y="0"/>
            <a:chExt cx="6350000" cy="3175000"/>
          </a:xfrm>
        </p:grpSpPr>
        <p:sp>
          <p:nvSpPr>
            <p:cNvPr id="8" name="Freeform 8"/>
            <p:cNvSpPr/>
            <p:nvPr/>
          </p:nvSpPr>
          <p:spPr>
            <a:xfrm>
              <a:off x="0" y="0"/>
              <a:ext cx="6350000" cy="3175000"/>
            </a:xfrm>
            <a:custGeom>
              <a:avLst/>
              <a:gdLst/>
              <a:ahLst/>
              <a:cxnLst/>
              <a:rect l="l" t="t" r="r" b="b"/>
              <a:pathLst>
                <a:path w="6350000" h="3175000">
                  <a:moveTo>
                    <a:pt x="3175000" y="0"/>
                  </a:moveTo>
                  <a:cubicBezTo>
                    <a:pt x="1421130" y="0"/>
                    <a:pt x="0" y="1421130"/>
                    <a:pt x="0" y="3175000"/>
                  </a:cubicBezTo>
                  <a:lnTo>
                    <a:pt x="6350000" y="3175000"/>
                  </a:lnTo>
                  <a:cubicBezTo>
                    <a:pt x="6350000" y="1421130"/>
                    <a:pt x="4928870" y="0"/>
                    <a:pt x="3175000" y="0"/>
                  </a:cubicBezTo>
                  <a:close/>
                </a:path>
              </a:pathLst>
            </a:custGeom>
            <a:blipFill>
              <a:blip r:embed="rId6"/>
              <a:stretch>
                <a:fillRect t="-11833" b="-11833"/>
              </a:stretch>
            </a:blipFill>
          </p:spPr>
          <p:txBody>
            <a:bodyPr/>
            <a:lstStyle/>
            <a:p>
              <a:endParaRPr lang="ar-OM"/>
            </a:p>
          </p:txBody>
        </p:sp>
      </p:grpSp>
      <p:grpSp>
        <p:nvGrpSpPr>
          <p:cNvPr id="9" name="Group 9"/>
          <p:cNvGrpSpPr/>
          <p:nvPr/>
        </p:nvGrpSpPr>
        <p:grpSpPr>
          <a:xfrm>
            <a:off x="2562137" y="7348470"/>
            <a:ext cx="1693205" cy="16932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518366" y="4415025"/>
            <a:ext cx="1693205" cy="169320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8286859" y="3146698"/>
            <a:ext cx="1693205" cy="169320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056514" y="4415025"/>
            <a:ext cx="1693205" cy="169320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4122048" y="7317671"/>
            <a:ext cx="1693205" cy="169320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4FA"/>
            </a:solidFill>
          </p:spPr>
          <p:txBody>
            <a:bodyPr/>
            <a:lstStyle/>
            <a:p>
              <a:endParaRPr lang="ar-OM"/>
            </a:p>
          </p:txBody>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6518023" y="6300850"/>
            <a:ext cx="1311772" cy="1144881"/>
            <a:chOff x="0" y="0"/>
            <a:chExt cx="416043" cy="363112"/>
          </a:xfrm>
        </p:grpSpPr>
        <p:sp>
          <p:nvSpPr>
            <p:cNvPr id="25" name="Freeform 25"/>
            <p:cNvSpPr/>
            <p:nvPr/>
          </p:nvSpPr>
          <p:spPr>
            <a:xfrm>
              <a:off x="0" y="0"/>
              <a:ext cx="416043" cy="363112"/>
            </a:xfrm>
            <a:custGeom>
              <a:avLst/>
              <a:gdLst/>
              <a:ahLst/>
              <a:cxnLst/>
              <a:rect l="l" t="t" r="r" b="b"/>
              <a:pathLst>
                <a:path w="416043" h="363112">
                  <a:moveTo>
                    <a:pt x="177056" y="0"/>
                  </a:moveTo>
                  <a:lnTo>
                    <a:pt x="238987" y="0"/>
                  </a:lnTo>
                  <a:cubicBezTo>
                    <a:pt x="336772" y="0"/>
                    <a:pt x="416043" y="79271"/>
                    <a:pt x="416043" y="177056"/>
                  </a:cubicBezTo>
                  <a:lnTo>
                    <a:pt x="416043" y="186055"/>
                  </a:lnTo>
                  <a:cubicBezTo>
                    <a:pt x="416043" y="283841"/>
                    <a:pt x="336772" y="363112"/>
                    <a:pt x="238987" y="363112"/>
                  </a:cubicBezTo>
                  <a:lnTo>
                    <a:pt x="177056" y="363112"/>
                  </a:lnTo>
                  <a:cubicBezTo>
                    <a:pt x="79271" y="363112"/>
                    <a:pt x="0" y="283841"/>
                    <a:pt x="0" y="186055"/>
                  </a:cubicBezTo>
                  <a:lnTo>
                    <a:pt x="0" y="177056"/>
                  </a:lnTo>
                  <a:cubicBezTo>
                    <a:pt x="0" y="79271"/>
                    <a:pt x="79271" y="0"/>
                    <a:pt x="177056"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26" name="TextBox 26"/>
            <p:cNvSpPr txBox="1"/>
            <p:nvPr/>
          </p:nvSpPr>
          <p:spPr>
            <a:xfrm>
              <a:off x="0" y="-85725"/>
              <a:ext cx="416043" cy="448837"/>
            </a:xfrm>
            <a:prstGeom prst="rect">
              <a:avLst/>
            </a:prstGeom>
          </p:spPr>
          <p:txBody>
            <a:bodyPr lIns="50800" tIns="50800" rIns="50800" bIns="50800" rtlCol="0" anchor="ctr"/>
            <a:lstStyle/>
            <a:p>
              <a:pPr algn="ctr">
                <a:lnSpc>
                  <a:spcPts val="3161"/>
                </a:lnSpc>
              </a:pPr>
              <a:endParaRPr/>
            </a:p>
          </p:txBody>
        </p:sp>
      </p:grpSp>
      <p:grpSp>
        <p:nvGrpSpPr>
          <p:cNvPr id="27" name="Group 27"/>
          <p:cNvGrpSpPr/>
          <p:nvPr/>
        </p:nvGrpSpPr>
        <p:grpSpPr>
          <a:xfrm>
            <a:off x="14559532" y="3173579"/>
            <a:ext cx="2548873" cy="1144881"/>
            <a:chOff x="0" y="0"/>
            <a:chExt cx="808403" cy="363112"/>
          </a:xfrm>
        </p:grpSpPr>
        <p:sp>
          <p:nvSpPr>
            <p:cNvPr id="28" name="Freeform 28"/>
            <p:cNvSpPr/>
            <p:nvPr/>
          </p:nvSpPr>
          <p:spPr>
            <a:xfrm>
              <a:off x="0" y="0"/>
              <a:ext cx="808403" cy="363112"/>
            </a:xfrm>
            <a:custGeom>
              <a:avLst/>
              <a:gdLst/>
              <a:ahLst/>
              <a:cxnLst/>
              <a:rect l="l" t="t" r="r" b="b"/>
              <a:pathLst>
                <a:path w="808403" h="363112">
                  <a:moveTo>
                    <a:pt x="91122" y="0"/>
                  </a:moveTo>
                  <a:lnTo>
                    <a:pt x="717282" y="0"/>
                  </a:lnTo>
                  <a:cubicBezTo>
                    <a:pt x="767607" y="0"/>
                    <a:pt x="808403" y="40797"/>
                    <a:pt x="808403" y="91122"/>
                  </a:cubicBezTo>
                  <a:lnTo>
                    <a:pt x="808403" y="271990"/>
                  </a:lnTo>
                  <a:cubicBezTo>
                    <a:pt x="808403" y="296157"/>
                    <a:pt x="798803" y="319334"/>
                    <a:pt x="781714" y="336423"/>
                  </a:cubicBezTo>
                  <a:cubicBezTo>
                    <a:pt x="764626" y="353511"/>
                    <a:pt x="741449" y="363112"/>
                    <a:pt x="717282" y="363112"/>
                  </a:cubicBezTo>
                  <a:lnTo>
                    <a:pt x="91122" y="363112"/>
                  </a:lnTo>
                  <a:cubicBezTo>
                    <a:pt x="40797" y="363112"/>
                    <a:pt x="0" y="322315"/>
                    <a:pt x="0" y="271990"/>
                  </a:cubicBezTo>
                  <a:lnTo>
                    <a:pt x="0" y="91122"/>
                  </a:lnTo>
                  <a:cubicBezTo>
                    <a:pt x="0" y="40797"/>
                    <a:pt x="40797" y="0"/>
                    <a:pt x="91122"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29" name="TextBox 29"/>
            <p:cNvSpPr txBox="1"/>
            <p:nvPr/>
          </p:nvSpPr>
          <p:spPr>
            <a:xfrm>
              <a:off x="0" y="-85725"/>
              <a:ext cx="808403" cy="448837"/>
            </a:xfrm>
            <a:prstGeom prst="rect">
              <a:avLst/>
            </a:prstGeom>
          </p:spPr>
          <p:txBody>
            <a:bodyPr lIns="50800" tIns="50800" rIns="50800" bIns="50800" rtlCol="0" anchor="ctr"/>
            <a:lstStyle/>
            <a:p>
              <a:pPr algn="ctr">
                <a:lnSpc>
                  <a:spcPts val="3161"/>
                </a:lnSpc>
              </a:pPr>
              <a:endParaRPr/>
            </a:p>
          </p:txBody>
        </p:sp>
      </p:grpSp>
      <p:grpSp>
        <p:nvGrpSpPr>
          <p:cNvPr id="30" name="Group 30"/>
          <p:cNvGrpSpPr/>
          <p:nvPr/>
        </p:nvGrpSpPr>
        <p:grpSpPr>
          <a:xfrm>
            <a:off x="9377995" y="1955132"/>
            <a:ext cx="2087283" cy="1144881"/>
            <a:chOff x="0" y="0"/>
            <a:chExt cx="662005" cy="363112"/>
          </a:xfrm>
        </p:grpSpPr>
        <p:sp>
          <p:nvSpPr>
            <p:cNvPr id="31" name="Freeform 31"/>
            <p:cNvSpPr/>
            <p:nvPr/>
          </p:nvSpPr>
          <p:spPr>
            <a:xfrm>
              <a:off x="0" y="0"/>
              <a:ext cx="662005" cy="363112"/>
            </a:xfrm>
            <a:custGeom>
              <a:avLst/>
              <a:gdLst/>
              <a:ahLst/>
              <a:cxnLst/>
              <a:rect l="l" t="t" r="r" b="b"/>
              <a:pathLst>
                <a:path w="662005" h="363112">
                  <a:moveTo>
                    <a:pt x="111273" y="0"/>
                  </a:moveTo>
                  <a:lnTo>
                    <a:pt x="550732" y="0"/>
                  </a:lnTo>
                  <a:cubicBezTo>
                    <a:pt x="580244" y="0"/>
                    <a:pt x="608546" y="11723"/>
                    <a:pt x="629414" y="32591"/>
                  </a:cubicBezTo>
                  <a:cubicBezTo>
                    <a:pt x="650282" y="53459"/>
                    <a:pt x="662005" y="81761"/>
                    <a:pt x="662005" y="111273"/>
                  </a:cubicBezTo>
                  <a:lnTo>
                    <a:pt x="662005" y="251839"/>
                  </a:lnTo>
                  <a:cubicBezTo>
                    <a:pt x="662005" y="281350"/>
                    <a:pt x="650282" y="309653"/>
                    <a:pt x="629414" y="330521"/>
                  </a:cubicBezTo>
                  <a:cubicBezTo>
                    <a:pt x="608546" y="351388"/>
                    <a:pt x="580244" y="363112"/>
                    <a:pt x="550732" y="363112"/>
                  </a:cubicBezTo>
                  <a:lnTo>
                    <a:pt x="111273" y="363112"/>
                  </a:lnTo>
                  <a:cubicBezTo>
                    <a:pt x="81761" y="363112"/>
                    <a:pt x="53459" y="351388"/>
                    <a:pt x="32591" y="330521"/>
                  </a:cubicBezTo>
                  <a:cubicBezTo>
                    <a:pt x="11723" y="309653"/>
                    <a:pt x="0" y="281350"/>
                    <a:pt x="0" y="251839"/>
                  </a:cubicBezTo>
                  <a:lnTo>
                    <a:pt x="0" y="111273"/>
                  </a:lnTo>
                  <a:cubicBezTo>
                    <a:pt x="0" y="81761"/>
                    <a:pt x="11723" y="53459"/>
                    <a:pt x="32591" y="32591"/>
                  </a:cubicBezTo>
                  <a:cubicBezTo>
                    <a:pt x="53459" y="11723"/>
                    <a:pt x="81761" y="0"/>
                    <a:pt x="111273"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32" name="TextBox 32"/>
            <p:cNvSpPr txBox="1"/>
            <p:nvPr/>
          </p:nvSpPr>
          <p:spPr>
            <a:xfrm>
              <a:off x="0" y="-85725"/>
              <a:ext cx="662005" cy="448837"/>
            </a:xfrm>
            <a:prstGeom prst="rect">
              <a:avLst/>
            </a:prstGeom>
          </p:spPr>
          <p:txBody>
            <a:bodyPr lIns="50800" tIns="50800" rIns="50800" bIns="50800" rtlCol="0" anchor="ctr"/>
            <a:lstStyle/>
            <a:p>
              <a:pPr algn="ctr">
                <a:lnSpc>
                  <a:spcPts val="3161"/>
                </a:lnSpc>
              </a:pPr>
              <a:endParaRPr/>
            </a:p>
          </p:txBody>
        </p:sp>
      </p:grpSp>
      <p:grpSp>
        <p:nvGrpSpPr>
          <p:cNvPr id="33" name="Group 33"/>
          <p:cNvGrpSpPr/>
          <p:nvPr/>
        </p:nvGrpSpPr>
        <p:grpSpPr>
          <a:xfrm>
            <a:off x="4636212" y="3173579"/>
            <a:ext cx="2548873" cy="1144881"/>
            <a:chOff x="0" y="0"/>
            <a:chExt cx="808403" cy="363112"/>
          </a:xfrm>
        </p:grpSpPr>
        <p:sp>
          <p:nvSpPr>
            <p:cNvPr id="34" name="Freeform 34"/>
            <p:cNvSpPr/>
            <p:nvPr/>
          </p:nvSpPr>
          <p:spPr>
            <a:xfrm>
              <a:off x="0" y="0"/>
              <a:ext cx="808403" cy="363112"/>
            </a:xfrm>
            <a:custGeom>
              <a:avLst/>
              <a:gdLst/>
              <a:ahLst/>
              <a:cxnLst/>
              <a:rect l="l" t="t" r="r" b="b"/>
              <a:pathLst>
                <a:path w="808403" h="363112">
                  <a:moveTo>
                    <a:pt x="91122" y="0"/>
                  </a:moveTo>
                  <a:lnTo>
                    <a:pt x="717282" y="0"/>
                  </a:lnTo>
                  <a:cubicBezTo>
                    <a:pt x="767607" y="0"/>
                    <a:pt x="808403" y="40797"/>
                    <a:pt x="808403" y="91122"/>
                  </a:cubicBezTo>
                  <a:lnTo>
                    <a:pt x="808403" y="271990"/>
                  </a:lnTo>
                  <a:cubicBezTo>
                    <a:pt x="808403" y="296157"/>
                    <a:pt x="798803" y="319334"/>
                    <a:pt x="781714" y="336423"/>
                  </a:cubicBezTo>
                  <a:cubicBezTo>
                    <a:pt x="764626" y="353511"/>
                    <a:pt x="741449" y="363112"/>
                    <a:pt x="717282" y="363112"/>
                  </a:cubicBezTo>
                  <a:lnTo>
                    <a:pt x="91122" y="363112"/>
                  </a:lnTo>
                  <a:cubicBezTo>
                    <a:pt x="40797" y="363112"/>
                    <a:pt x="0" y="322315"/>
                    <a:pt x="0" y="271990"/>
                  </a:cubicBezTo>
                  <a:lnTo>
                    <a:pt x="0" y="91122"/>
                  </a:lnTo>
                  <a:cubicBezTo>
                    <a:pt x="0" y="40797"/>
                    <a:pt x="40797" y="0"/>
                    <a:pt x="91122"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35" name="TextBox 35"/>
            <p:cNvSpPr txBox="1"/>
            <p:nvPr/>
          </p:nvSpPr>
          <p:spPr>
            <a:xfrm>
              <a:off x="0" y="-85725"/>
              <a:ext cx="808403" cy="448837"/>
            </a:xfrm>
            <a:prstGeom prst="rect">
              <a:avLst/>
            </a:prstGeom>
          </p:spPr>
          <p:txBody>
            <a:bodyPr lIns="50800" tIns="50800" rIns="50800" bIns="50800" rtlCol="0" anchor="ctr"/>
            <a:lstStyle/>
            <a:p>
              <a:pPr algn="ctr">
                <a:lnSpc>
                  <a:spcPts val="3161"/>
                </a:lnSpc>
              </a:pPr>
              <a:endParaRPr/>
            </a:p>
          </p:txBody>
        </p:sp>
      </p:grpSp>
      <p:grpSp>
        <p:nvGrpSpPr>
          <p:cNvPr id="36" name="Group 36"/>
          <p:cNvGrpSpPr/>
          <p:nvPr/>
        </p:nvGrpSpPr>
        <p:grpSpPr>
          <a:xfrm>
            <a:off x="2038984" y="5728410"/>
            <a:ext cx="1822188" cy="1589262"/>
            <a:chOff x="0" y="0"/>
            <a:chExt cx="577927" cy="504052"/>
          </a:xfrm>
        </p:grpSpPr>
        <p:sp>
          <p:nvSpPr>
            <p:cNvPr id="37" name="Freeform 37"/>
            <p:cNvSpPr/>
            <p:nvPr/>
          </p:nvSpPr>
          <p:spPr>
            <a:xfrm>
              <a:off x="0" y="0"/>
              <a:ext cx="577927" cy="504052"/>
            </a:xfrm>
            <a:custGeom>
              <a:avLst/>
              <a:gdLst/>
              <a:ahLst/>
              <a:cxnLst/>
              <a:rect l="l" t="t" r="r" b="b"/>
              <a:pathLst>
                <a:path w="577927" h="504052">
                  <a:moveTo>
                    <a:pt x="127461" y="0"/>
                  </a:moveTo>
                  <a:lnTo>
                    <a:pt x="450466" y="0"/>
                  </a:lnTo>
                  <a:cubicBezTo>
                    <a:pt x="520861" y="0"/>
                    <a:pt x="577927" y="57066"/>
                    <a:pt x="577927" y="127461"/>
                  </a:cubicBezTo>
                  <a:lnTo>
                    <a:pt x="577927" y="376591"/>
                  </a:lnTo>
                  <a:cubicBezTo>
                    <a:pt x="577927" y="410396"/>
                    <a:pt x="564498" y="442816"/>
                    <a:pt x="540595" y="466720"/>
                  </a:cubicBezTo>
                  <a:cubicBezTo>
                    <a:pt x="516691" y="490623"/>
                    <a:pt x="484271" y="504052"/>
                    <a:pt x="450466" y="504052"/>
                  </a:cubicBezTo>
                  <a:lnTo>
                    <a:pt x="127461" y="504052"/>
                  </a:lnTo>
                  <a:cubicBezTo>
                    <a:pt x="93656" y="504052"/>
                    <a:pt x="61236" y="490623"/>
                    <a:pt x="37332" y="466720"/>
                  </a:cubicBezTo>
                  <a:cubicBezTo>
                    <a:pt x="13429" y="442816"/>
                    <a:pt x="0" y="410396"/>
                    <a:pt x="0" y="376591"/>
                  </a:cubicBezTo>
                  <a:lnTo>
                    <a:pt x="0" y="127461"/>
                  </a:lnTo>
                  <a:cubicBezTo>
                    <a:pt x="0" y="93656"/>
                    <a:pt x="13429" y="61236"/>
                    <a:pt x="37332" y="37332"/>
                  </a:cubicBezTo>
                  <a:cubicBezTo>
                    <a:pt x="61236" y="13429"/>
                    <a:pt x="93656" y="0"/>
                    <a:pt x="127461"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38" name="TextBox 38"/>
            <p:cNvSpPr txBox="1"/>
            <p:nvPr/>
          </p:nvSpPr>
          <p:spPr>
            <a:xfrm>
              <a:off x="0" y="-85725"/>
              <a:ext cx="577927" cy="589777"/>
            </a:xfrm>
            <a:prstGeom prst="rect">
              <a:avLst/>
            </a:prstGeom>
          </p:spPr>
          <p:txBody>
            <a:bodyPr lIns="50800" tIns="50800" rIns="50800" bIns="50800" rtlCol="0" anchor="ctr"/>
            <a:lstStyle/>
            <a:p>
              <a:pPr algn="ctr">
                <a:lnSpc>
                  <a:spcPts val="3161"/>
                </a:lnSpc>
              </a:pPr>
              <a:endParaRPr/>
            </a:p>
          </p:txBody>
        </p:sp>
      </p:grpSp>
      <p:sp>
        <p:nvSpPr>
          <p:cNvPr id="39" name="TextBox 39"/>
          <p:cNvSpPr txBox="1"/>
          <p:nvPr/>
        </p:nvSpPr>
        <p:spPr>
          <a:xfrm>
            <a:off x="4940002" y="738092"/>
            <a:ext cx="8875986" cy="896937"/>
          </a:xfrm>
          <a:prstGeom prst="rect">
            <a:avLst/>
          </a:prstGeom>
        </p:spPr>
        <p:txBody>
          <a:bodyPr lIns="0" tIns="0" rIns="0" bIns="0" rtlCol="0" anchor="t">
            <a:spAutoFit/>
          </a:bodyPr>
          <a:lstStyle/>
          <a:p>
            <a:pPr algn="ctr">
              <a:lnSpc>
                <a:spcPts val="6337"/>
              </a:lnSpc>
            </a:pPr>
            <a:r>
              <a:rPr lang="ar-EG" sz="5281" b="1">
                <a:solidFill>
                  <a:srgbClr val="E9F4FA"/>
                </a:solidFill>
                <a:latin typeface="GE SS Two Medium"/>
                <a:ea typeface="GE SS Two Medium"/>
                <a:cs typeface="GE SS Two Medium"/>
                <a:sym typeface="GE SS Two Medium"/>
                <a:rtl/>
              </a:rPr>
              <a:t>طرق جمع اللبان في ظفار</a:t>
            </a:r>
          </a:p>
        </p:txBody>
      </p:sp>
      <p:sp>
        <p:nvSpPr>
          <p:cNvPr id="40" name="TextBox 40"/>
          <p:cNvSpPr txBox="1"/>
          <p:nvPr/>
        </p:nvSpPr>
        <p:spPr>
          <a:xfrm>
            <a:off x="14826598" y="5977885"/>
            <a:ext cx="2695621" cy="1217092"/>
          </a:xfrm>
          <a:prstGeom prst="rect">
            <a:avLst/>
          </a:prstGeom>
        </p:spPr>
        <p:txBody>
          <a:bodyPr lIns="0" tIns="0" rIns="0" bIns="0" rtlCol="0" anchor="t">
            <a:spAutoFit/>
          </a:bodyPr>
          <a:lstStyle/>
          <a:p>
            <a:pPr algn="r" rtl="1">
              <a:lnSpc>
                <a:spcPts val="3125"/>
              </a:lnSpc>
            </a:pPr>
            <a:r>
              <a:rPr lang="ar-EG" sz="2604" b="1">
                <a:solidFill>
                  <a:srgbClr val="E9F4FA"/>
                </a:solidFill>
                <a:latin typeface="GE SS Two Medium"/>
                <a:ea typeface="GE SS Two Medium"/>
                <a:cs typeface="GE SS Two Medium"/>
                <a:sym typeface="GE SS Two Medium"/>
                <a:rtl/>
              </a:rPr>
              <a:t>اختيار الشجرة: اختيار الأشجار المناسبة للجمع. </a:t>
            </a:r>
          </a:p>
        </p:txBody>
      </p:sp>
      <p:sp>
        <p:nvSpPr>
          <p:cNvPr id="41" name="TextBox 41"/>
          <p:cNvSpPr txBox="1"/>
          <p:nvPr/>
        </p:nvSpPr>
        <p:spPr>
          <a:xfrm>
            <a:off x="11242438" y="3244273"/>
            <a:ext cx="5506463"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خدش اللحاء: إحداث خدوش سطحية بأداة تقليدية تُسمى «المنجف». </a:t>
            </a:r>
          </a:p>
        </p:txBody>
      </p:sp>
      <p:sp>
        <p:nvSpPr>
          <p:cNvPr id="42" name="TextBox 42"/>
          <p:cNvSpPr txBox="1"/>
          <p:nvPr/>
        </p:nvSpPr>
        <p:spPr>
          <a:xfrm>
            <a:off x="5910649" y="2070373"/>
            <a:ext cx="5253708"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تجفيف الإفرازات: ترك المادة الصمغية حتى تتصلب. </a:t>
            </a:r>
          </a:p>
        </p:txBody>
      </p:sp>
      <p:sp>
        <p:nvSpPr>
          <p:cNvPr id="43" name="TextBox 43"/>
          <p:cNvSpPr txBox="1"/>
          <p:nvPr/>
        </p:nvSpPr>
        <p:spPr>
          <a:xfrm>
            <a:off x="2348488" y="3289573"/>
            <a:ext cx="4503523" cy="866775"/>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جمع اللبان: جمع القطع المتصلبة من الشجرة بعناية. </a:t>
            </a:r>
          </a:p>
        </p:txBody>
      </p:sp>
      <p:sp>
        <p:nvSpPr>
          <p:cNvPr id="44" name="TextBox 44"/>
          <p:cNvSpPr txBox="1"/>
          <p:nvPr/>
        </p:nvSpPr>
        <p:spPr>
          <a:xfrm>
            <a:off x="337202" y="5804327"/>
            <a:ext cx="3600450" cy="1276350"/>
          </a:xfrm>
          <a:prstGeom prst="rect">
            <a:avLst/>
          </a:prstGeom>
        </p:spPr>
        <p:txBody>
          <a:bodyPr lIns="0" tIns="0" rIns="0" bIns="0" rtlCol="0" anchor="t">
            <a:spAutoFit/>
          </a:bodyPr>
          <a:lstStyle/>
          <a:p>
            <a:pPr algn="r" rtl="1">
              <a:lnSpc>
                <a:spcPts val="3229"/>
              </a:lnSpc>
            </a:pPr>
            <a:r>
              <a:rPr lang="ar-EG" sz="2691" b="1">
                <a:solidFill>
                  <a:srgbClr val="E9F4FA"/>
                </a:solidFill>
                <a:latin typeface="GE SS Two Medium"/>
                <a:ea typeface="GE SS Two Medium"/>
                <a:cs typeface="GE SS Two Medium"/>
                <a:sym typeface="GE SS Two Medium"/>
                <a:rtl/>
              </a:rPr>
              <a:t>التنظيف والفرز: تنظيف اللبان وتصنيفه حسب اللون والحجم والنقاء. </a:t>
            </a:r>
          </a:p>
        </p:txBody>
      </p:sp>
      <p:sp>
        <p:nvSpPr>
          <p:cNvPr id="45" name="TextBox 45"/>
          <p:cNvSpPr txBox="1"/>
          <p:nvPr/>
        </p:nvSpPr>
        <p:spPr>
          <a:xfrm>
            <a:off x="14196687" y="7709297"/>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1</a:t>
            </a:r>
          </a:p>
        </p:txBody>
      </p:sp>
      <p:sp>
        <p:nvSpPr>
          <p:cNvPr id="46" name="TextBox 46"/>
          <p:cNvSpPr txBox="1"/>
          <p:nvPr/>
        </p:nvSpPr>
        <p:spPr>
          <a:xfrm>
            <a:off x="12131154" y="4775852"/>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2</a:t>
            </a:r>
          </a:p>
        </p:txBody>
      </p:sp>
      <p:sp>
        <p:nvSpPr>
          <p:cNvPr id="47" name="TextBox 47"/>
          <p:cNvSpPr txBox="1"/>
          <p:nvPr/>
        </p:nvSpPr>
        <p:spPr>
          <a:xfrm>
            <a:off x="8372038" y="3471488"/>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3</a:t>
            </a:r>
          </a:p>
        </p:txBody>
      </p:sp>
      <p:sp>
        <p:nvSpPr>
          <p:cNvPr id="48" name="TextBox 48"/>
          <p:cNvSpPr txBox="1"/>
          <p:nvPr/>
        </p:nvSpPr>
        <p:spPr>
          <a:xfrm>
            <a:off x="4593006" y="4775852"/>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4</a:t>
            </a:r>
          </a:p>
        </p:txBody>
      </p:sp>
      <p:sp>
        <p:nvSpPr>
          <p:cNvPr id="49" name="TextBox 49"/>
          <p:cNvSpPr txBox="1"/>
          <p:nvPr/>
        </p:nvSpPr>
        <p:spPr>
          <a:xfrm>
            <a:off x="2636777" y="7709297"/>
            <a:ext cx="1543925" cy="857250"/>
          </a:xfrm>
          <a:prstGeom prst="rect">
            <a:avLst/>
          </a:prstGeom>
        </p:spPr>
        <p:txBody>
          <a:bodyPr lIns="0" tIns="0" rIns="0" bIns="0" rtlCol="0" anchor="t">
            <a:spAutoFit/>
          </a:bodyPr>
          <a:lstStyle/>
          <a:p>
            <a:pPr algn="ctr">
              <a:lnSpc>
                <a:spcPts val="5850"/>
              </a:lnSpc>
            </a:pPr>
            <a:r>
              <a:rPr lang="en-US" sz="4875">
                <a:solidFill>
                  <a:srgbClr val="57190C"/>
                </a:solidFill>
                <a:latin typeface="AktivGrotesk-XBold"/>
                <a:ea typeface="AktivGrotesk-XBold"/>
                <a:cs typeface="AktivGrotesk-XBold"/>
                <a:sym typeface="AktivGrotesk-XBold"/>
              </a:rPr>
              <a:t>5</a:t>
            </a:r>
          </a:p>
        </p:txBody>
      </p:sp>
      <p:grpSp>
        <p:nvGrpSpPr>
          <p:cNvPr id="50" name="Group 50"/>
          <p:cNvGrpSpPr/>
          <p:nvPr/>
        </p:nvGrpSpPr>
        <p:grpSpPr>
          <a:xfrm>
            <a:off x="4940002" y="8685860"/>
            <a:ext cx="8141654" cy="1430999"/>
            <a:chOff x="0" y="0"/>
            <a:chExt cx="2582216" cy="453857"/>
          </a:xfrm>
        </p:grpSpPr>
        <p:sp>
          <p:nvSpPr>
            <p:cNvPr id="51" name="Freeform 51"/>
            <p:cNvSpPr/>
            <p:nvPr/>
          </p:nvSpPr>
          <p:spPr>
            <a:xfrm>
              <a:off x="0" y="0"/>
              <a:ext cx="2582216" cy="453857"/>
            </a:xfrm>
            <a:custGeom>
              <a:avLst/>
              <a:gdLst/>
              <a:ahLst/>
              <a:cxnLst/>
              <a:rect l="l" t="t" r="r" b="b"/>
              <a:pathLst>
                <a:path w="2582216" h="453857">
                  <a:moveTo>
                    <a:pt x="28527" y="0"/>
                  </a:moveTo>
                  <a:lnTo>
                    <a:pt x="2553689" y="0"/>
                  </a:lnTo>
                  <a:cubicBezTo>
                    <a:pt x="2569444" y="0"/>
                    <a:pt x="2582216" y="12772"/>
                    <a:pt x="2582216" y="28527"/>
                  </a:cubicBezTo>
                  <a:lnTo>
                    <a:pt x="2582216" y="425330"/>
                  </a:lnTo>
                  <a:cubicBezTo>
                    <a:pt x="2582216" y="441085"/>
                    <a:pt x="2569444" y="453857"/>
                    <a:pt x="2553689" y="453857"/>
                  </a:cubicBezTo>
                  <a:lnTo>
                    <a:pt x="28527" y="453857"/>
                  </a:lnTo>
                  <a:cubicBezTo>
                    <a:pt x="12772" y="453857"/>
                    <a:pt x="0" y="441085"/>
                    <a:pt x="0" y="425330"/>
                  </a:cubicBezTo>
                  <a:lnTo>
                    <a:pt x="0" y="28527"/>
                  </a:lnTo>
                  <a:cubicBezTo>
                    <a:pt x="0" y="12772"/>
                    <a:pt x="12772" y="0"/>
                    <a:pt x="28527"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52" name="TextBox 52"/>
            <p:cNvSpPr txBox="1"/>
            <p:nvPr/>
          </p:nvSpPr>
          <p:spPr>
            <a:xfrm>
              <a:off x="0" y="-85725"/>
              <a:ext cx="2582216" cy="539582"/>
            </a:xfrm>
            <a:prstGeom prst="rect">
              <a:avLst/>
            </a:prstGeom>
          </p:spPr>
          <p:txBody>
            <a:bodyPr lIns="50800" tIns="50800" rIns="50800" bIns="50800" rtlCol="0" anchor="ctr"/>
            <a:lstStyle/>
            <a:p>
              <a:pPr algn="ctr">
                <a:lnSpc>
                  <a:spcPts val="3161"/>
                </a:lnSpc>
              </a:pPr>
              <a:endParaRPr/>
            </a:p>
          </p:txBody>
        </p:sp>
      </p:grpSp>
      <p:sp>
        <p:nvSpPr>
          <p:cNvPr id="53" name="TextBox 53"/>
          <p:cNvSpPr txBox="1"/>
          <p:nvPr/>
        </p:nvSpPr>
        <p:spPr>
          <a:xfrm>
            <a:off x="5266228" y="8701517"/>
            <a:ext cx="7431546" cy="1226008"/>
          </a:xfrm>
          <a:prstGeom prst="rect">
            <a:avLst/>
          </a:prstGeom>
        </p:spPr>
        <p:txBody>
          <a:bodyPr lIns="0" tIns="0" rIns="0" bIns="0" rtlCol="0" anchor="t">
            <a:spAutoFit/>
          </a:bodyPr>
          <a:lstStyle/>
          <a:p>
            <a:pPr algn="r" rtl="1">
              <a:lnSpc>
                <a:spcPts val="3795"/>
              </a:lnSpc>
              <a:spcBef>
                <a:spcPct val="0"/>
              </a:spcBef>
            </a:pPr>
            <a:r>
              <a:rPr lang="ar-EG" sz="2711" b="1">
                <a:solidFill>
                  <a:srgbClr val="FFFFFF"/>
                </a:solidFill>
                <a:latin typeface="GE SS Two Medium"/>
                <a:ea typeface="GE SS Two Medium"/>
                <a:cs typeface="GE SS Two Medium"/>
                <a:sym typeface="GE SS Two Medium"/>
                <a:rtl/>
              </a:rPr>
              <a:t>معلومة مهمة:</a:t>
            </a:r>
          </a:p>
          <a:p>
            <a:pPr algn="r" rtl="1">
              <a:lnSpc>
                <a:spcPts val="2802"/>
              </a:lnSpc>
              <a:spcBef>
                <a:spcPct val="0"/>
              </a:spcBef>
            </a:pPr>
            <a:r>
              <a:rPr lang="ar-EG" sz="2001" b="1">
                <a:solidFill>
                  <a:srgbClr val="FFFFFF"/>
                </a:solidFill>
                <a:latin typeface="GE SS Two Medium"/>
                <a:ea typeface="GE SS Two Medium"/>
                <a:cs typeface="GE SS Two Medium"/>
                <a:sym typeface="GE SS Two Medium"/>
                <a:rtl/>
              </a:rPr>
              <a:t> يجب تجنب الإفراط في خدش الشجرة؛ للحفاظ على صحتها وضمان استمرار إنتاج اللبان مستقبلًا. </a:t>
            </a:r>
          </a:p>
        </p:txBody>
      </p:sp>
      <p:sp>
        <p:nvSpPr>
          <p:cNvPr id="57" name="Freeform 27">
            <a:extLst>
              <a:ext uri="{FF2B5EF4-FFF2-40B4-BE49-F238E27FC236}">
                <a16:creationId xmlns:a16="http://schemas.microsoft.com/office/drawing/2014/main" id="{27A1CD75-D663-00ED-2FCC-0EA318EE7BEA}"/>
              </a:ext>
            </a:extLst>
          </p:cNvPr>
          <p:cNvSpPr/>
          <p:nvPr/>
        </p:nvSpPr>
        <p:spPr>
          <a:xfrm>
            <a:off x="16397144" y="-2846"/>
            <a:ext cx="1867556" cy="2012297"/>
          </a:xfrm>
          <a:custGeom>
            <a:avLst/>
            <a:gdLst/>
            <a:ahLst/>
            <a:cxnLst/>
            <a:rect l="l" t="t" r="r" b="b"/>
            <a:pathLst>
              <a:path w="3507262" h="3507262">
                <a:moveTo>
                  <a:pt x="0" y="0"/>
                </a:moveTo>
                <a:lnTo>
                  <a:pt x="3507262" y="0"/>
                </a:lnTo>
                <a:lnTo>
                  <a:pt x="3507262" y="3507262"/>
                </a:lnTo>
                <a:lnTo>
                  <a:pt x="0" y="3507262"/>
                </a:lnTo>
                <a:lnTo>
                  <a:pt x="0" y="0"/>
                </a:lnTo>
                <a:close/>
              </a:path>
            </a:pathLst>
          </a:custGeom>
          <a:blipFill>
            <a:blip r:embed="rId7"/>
            <a:stretch>
              <a:fillRect/>
            </a:stretch>
          </a:blipFill>
        </p:spPr>
        <p:txBody>
          <a:bodyPr/>
          <a:lstStyle/>
          <a:p>
            <a:endParaRPr lang="ar-OM"/>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12" name="Freeform 2">
            <a:extLst>
              <a:ext uri="{FF2B5EF4-FFF2-40B4-BE49-F238E27FC236}">
                <a16:creationId xmlns:a16="http://schemas.microsoft.com/office/drawing/2014/main" id="{B35E7450-478C-E0B7-82A8-C1F34A87441E}"/>
              </a:ext>
            </a:extLst>
          </p:cNvPr>
          <p:cNvSpPr/>
          <p:nvPr/>
        </p:nvSpPr>
        <p:spPr>
          <a:xfrm>
            <a:off x="-978158" y="-5372100"/>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grpSp>
        <p:nvGrpSpPr>
          <p:cNvPr id="2" name="Group 2"/>
          <p:cNvGrpSpPr/>
          <p:nvPr/>
        </p:nvGrpSpPr>
        <p:grpSpPr>
          <a:xfrm>
            <a:off x="-2799434" y="853300"/>
            <a:ext cx="13486484" cy="8580400"/>
            <a:chOff x="0" y="0"/>
            <a:chExt cx="3551996" cy="2259858"/>
          </a:xfrm>
        </p:grpSpPr>
        <p:sp>
          <p:nvSpPr>
            <p:cNvPr id="3" name="Freeform 3"/>
            <p:cNvSpPr/>
            <p:nvPr/>
          </p:nvSpPr>
          <p:spPr>
            <a:xfrm>
              <a:off x="0" y="0"/>
              <a:ext cx="3551996" cy="2259858"/>
            </a:xfrm>
            <a:custGeom>
              <a:avLst/>
              <a:gdLst/>
              <a:ahLst/>
              <a:cxnLst/>
              <a:rect l="l" t="t" r="r" b="b"/>
              <a:pathLst>
                <a:path w="3551996" h="2259858">
                  <a:moveTo>
                    <a:pt x="0" y="0"/>
                  </a:moveTo>
                  <a:lnTo>
                    <a:pt x="3551996" y="0"/>
                  </a:lnTo>
                  <a:lnTo>
                    <a:pt x="3551996" y="2259858"/>
                  </a:lnTo>
                  <a:lnTo>
                    <a:pt x="0" y="2259858"/>
                  </a:lnTo>
                  <a:close/>
                </a:path>
              </a:pathLst>
            </a:custGeom>
            <a:solidFill>
              <a:srgbClr val="57190C"/>
            </a:solidFill>
          </p:spPr>
          <p:txBody>
            <a:bodyPr/>
            <a:lstStyle/>
            <a:p>
              <a:endParaRPr lang="ar-OM"/>
            </a:p>
          </p:txBody>
        </p:sp>
        <p:sp>
          <p:nvSpPr>
            <p:cNvPr id="4" name="TextBox 4"/>
            <p:cNvSpPr txBox="1"/>
            <p:nvPr/>
          </p:nvSpPr>
          <p:spPr>
            <a:xfrm>
              <a:off x="0" y="-57150"/>
              <a:ext cx="3551996" cy="23170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799434" y="514350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6" name="Freeform 6"/>
          <p:cNvSpPr/>
          <p:nvPr/>
        </p:nvSpPr>
        <p:spPr>
          <a:xfrm>
            <a:off x="-3376627" y="-3901487"/>
            <a:ext cx="8355287" cy="8355287"/>
          </a:xfrm>
          <a:custGeom>
            <a:avLst/>
            <a:gdLst/>
            <a:ahLst/>
            <a:cxnLst/>
            <a:rect l="l" t="t" r="r" b="b"/>
            <a:pathLst>
              <a:path w="8355287" h="8355287">
                <a:moveTo>
                  <a:pt x="0" y="0"/>
                </a:moveTo>
                <a:lnTo>
                  <a:pt x="8355287" y="0"/>
                </a:lnTo>
                <a:lnTo>
                  <a:pt x="8355287" y="8355287"/>
                </a:lnTo>
                <a:lnTo>
                  <a:pt x="0" y="8355287"/>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7" name="Freeform 7"/>
          <p:cNvSpPr/>
          <p:nvPr/>
        </p:nvSpPr>
        <p:spPr>
          <a:xfrm>
            <a:off x="-3274364" y="1266991"/>
            <a:ext cx="15351660" cy="7753018"/>
          </a:xfrm>
          <a:custGeom>
            <a:avLst/>
            <a:gdLst/>
            <a:ahLst/>
            <a:cxnLst/>
            <a:rect l="l" t="t" r="r" b="b"/>
            <a:pathLst>
              <a:path w="15351660" h="7753018">
                <a:moveTo>
                  <a:pt x="0" y="0"/>
                </a:moveTo>
                <a:lnTo>
                  <a:pt x="15351661" y="0"/>
                </a:lnTo>
                <a:lnTo>
                  <a:pt x="15351661" y="7753018"/>
                </a:lnTo>
                <a:lnTo>
                  <a:pt x="0" y="7753018"/>
                </a:lnTo>
                <a:lnTo>
                  <a:pt x="0" y="0"/>
                </a:lnTo>
                <a:close/>
              </a:path>
            </a:pathLst>
          </a:custGeom>
          <a:blipFill>
            <a:blip r:embed="rId4"/>
            <a:stretch>
              <a:fillRect t="-66475" b="-66475"/>
            </a:stretch>
          </a:blipFill>
        </p:spPr>
        <p:txBody>
          <a:bodyPr/>
          <a:lstStyle/>
          <a:p>
            <a:endParaRPr lang="ar-OM"/>
          </a:p>
        </p:txBody>
      </p:sp>
      <p:sp>
        <p:nvSpPr>
          <p:cNvPr id="8" name="Freeform 8"/>
          <p:cNvSpPr/>
          <p:nvPr/>
        </p:nvSpPr>
        <p:spPr>
          <a:xfrm>
            <a:off x="7127679" y="-2313811"/>
            <a:ext cx="15804800" cy="15804800"/>
          </a:xfrm>
          <a:custGeom>
            <a:avLst/>
            <a:gdLst/>
            <a:ahLst/>
            <a:cxnLst/>
            <a:rect l="l" t="t" r="r" b="b"/>
            <a:pathLst>
              <a:path w="15804800" h="15804800">
                <a:moveTo>
                  <a:pt x="0" y="0"/>
                </a:moveTo>
                <a:lnTo>
                  <a:pt x="15804799" y="0"/>
                </a:lnTo>
                <a:lnTo>
                  <a:pt x="15804799" y="15804799"/>
                </a:lnTo>
                <a:lnTo>
                  <a:pt x="0" y="158047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sp>
        <p:nvSpPr>
          <p:cNvPr id="9" name="TextBox 9"/>
          <p:cNvSpPr txBox="1"/>
          <p:nvPr/>
        </p:nvSpPr>
        <p:spPr>
          <a:xfrm>
            <a:off x="8485388" y="1895348"/>
            <a:ext cx="9269212" cy="657352"/>
          </a:xfrm>
          <a:prstGeom prst="rect">
            <a:avLst/>
          </a:prstGeom>
        </p:spPr>
        <p:txBody>
          <a:bodyPr lIns="0" tIns="0" rIns="0" bIns="0" rtlCol="0" anchor="t">
            <a:spAutoFit/>
          </a:bodyPr>
          <a:lstStyle/>
          <a:p>
            <a:pPr algn="r" rtl="1">
              <a:lnSpc>
                <a:spcPts val="4713"/>
              </a:lnSpc>
            </a:pPr>
            <a:r>
              <a:rPr lang="ar-EG" sz="3927" b="1" dirty="0">
                <a:solidFill>
                  <a:srgbClr val="E9F4FA"/>
                </a:solidFill>
                <a:latin typeface="GE SS Two Medium"/>
                <a:ea typeface="GE SS Two Medium"/>
                <a:cs typeface="GE SS Two Medium"/>
                <a:sym typeface="GE SS Two Medium"/>
                <a:rtl/>
              </a:rPr>
              <a:t>هل كل أنواع اللبان متساوية في القيمة؟</a:t>
            </a:r>
          </a:p>
        </p:txBody>
      </p:sp>
      <p:sp>
        <p:nvSpPr>
          <p:cNvPr id="10" name="TextBox 10"/>
          <p:cNvSpPr txBox="1"/>
          <p:nvPr/>
        </p:nvSpPr>
        <p:spPr>
          <a:xfrm>
            <a:off x="8101700" y="2951295"/>
            <a:ext cx="9652900" cy="5468805"/>
          </a:xfrm>
          <a:prstGeom prst="rect">
            <a:avLst/>
          </a:prstGeom>
        </p:spPr>
        <p:txBody>
          <a:bodyPr lIns="0" tIns="0" rIns="0" bIns="0" rtlCol="0" anchor="t">
            <a:spAutoFit/>
          </a:bodyPr>
          <a:lstStyle/>
          <a:p>
            <a:pPr algn="r" rtl="1">
              <a:lnSpc>
                <a:spcPts val="3863"/>
              </a:lnSpc>
            </a:pPr>
            <a:r>
              <a:rPr lang="ar-EG" sz="2400" b="1" dirty="0">
                <a:solidFill>
                  <a:srgbClr val="E9F4FA"/>
                </a:solidFill>
                <a:latin typeface="GE SS Two Medium"/>
                <a:ea typeface="GE SS Two Medium"/>
                <a:cs typeface="GE SS Two Medium"/>
                <a:sym typeface="GE SS Two Medium"/>
                <a:rtl/>
              </a:rPr>
              <a:t>تختلف قطع اللبان في اللون والحجم والنقاء والرائحة، وتؤثر هذه الصفات في تصنيفها وقيمتها التجارية. ومن الأسماء المتداولة في تجارة اللبان </a:t>
            </a:r>
            <a:r>
              <a:rPr lang="ar-EG" sz="2400" b="1" dirty="0" err="1">
                <a:solidFill>
                  <a:srgbClr val="E9F4FA"/>
                </a:solidFill>
                <a:latin typeface="GE SS Two Medium"/>
                <a:ea typeface="GE SS Two Medium"/>
                <a:cs typeface="GE SS Two Medium"/>
                <a:sym typeface="GE SS Two Medium"/>
                <a:rtl/>
              </a:rPr>
              <a:t>الظفاري</a:t>
            </a:r>
            <a:r>
              <a:rPr lang="ar-EG" sz="2400" b="1" dirty="0">
                <a:solidFill>
                  <a:srgbClr val="E9F4FA"/>
                </a:solidFill>
                <a:latin typeface="GE SS Two Medium"/>
                <a:ea typeface="GE SS Two Medium"/>
                <a:cs typeface="GE SS Two Medium"/>
                <a:sym typeface="GE SS Two Medium"/>
                <a:rtl/>
              </a:rPr>
              <a:t> «</a:t>
            </a:r>
            <a:r>
              <a:rPr lang="ar-EG" sz="2400" b="1" dirty="0" err="1">
                <a:solidFill>
                  <a:srgbClr val="E9F4FA"/>
                </a:solidFill>
                <a:latin typeface="GE SS Two Medium"/>
                <a:ea typeface="GE SS Two Medium"/>
                <a:cs typeface="GE SS Two Medium"/>
                <a:sym typeface="GE SS Two Medium"/>
                <a:rtl/>
              </a:rPr>
              <a:t>الحوجري</a:t>
            </a:r>
            <a:r>
              <a:rPr lang="ar-EG" sz="2400" b="1" dirty="0">
                <a:solidFill>
                  <a:srgbClr val="E9F4FA"/>
                </a:solidFill>
                <a:latin typeface="GE SS Two Medium"/>
                <a:ea typeface="GE SS Two Medium"/>
                <a:cs typeface="GE SS Two Medium"/>
                <a:sym typeface="GE SS Two Medium"/>
                <a:rtl/>
              </a:rPr>
              <a:t>»، الذي يُعرف عادةً بجودته العالية، مع اختلاف خصائص اللبان بحسب منطقة نمو الأشجار وظروفها. </a:t>
            </a:r>
          </a:p>
          <a:p>
            <a:pPr algn="r" rtl="1">
              <a:lnSpc>
                <a:spcPts val="3863"/>
              </a:lnSpc>
            </a:pPr>
            <a:endParaRPr lang="ar-EG" sz="2400" b="1" dirty="0">
              <a:solidFill>
                <a:srgbClr val="E9F4FA"/>
              </a:solidFill>
              <a:latin typeface="GE SS Two Medium"/>
              <a:ea typeface="GE SS Two Medium"/>
              <a:cs typeface="GE SS Two Medium"/>
              <a:sym typeface="GE SS Two Medium"/>
              <a:rtl/>
            </a:endParaRPr>
          </a:p>
          <a:p>
            <a:pPr algn="r" rtl="1">
              <a:lnSpc>
                <a:spcPts val="3863"/>
              </a:lnSpc>
            </a:pPr>
            <a:r>
              <a:rPr lang="ar-EG" sz="2400" b="1" dirty="0">
                <a:solidFill>
                  <a:srgbClr val="E9F4FA"/>
                </a:solidFill>
                <a:latin typeface="GE SS Two Medium"/>
                <a:ea typeface="GE SS Two Medium"/>
                <a:cs typeface="GE SS Two Medium"/>
                <a:sym typeface="GE SS Two Medium"/>
                <a:rtl/>
              </a:rPr>
              <a:t>وهذه المعلومة تفتح بابًا بحثيًا مهمًا: كيف تؤثر البيئة في صفات منتج طبيعي واحد؟ ولماذا قد تختلف قيمة اللبان الذي تجمعه أشجار تنمو في مناطق متباينة؟ </a:t>
            </a:r>
          </a:p>
          <a:p>
            <a:pPr algn="r" rtl="1">
              <a:lnSpc>
                <a:spcPts val="3863"/>
              </a:lnSpc>
            </a:pPr>
            <a:endParaRPr lang="ar-EG" sz="2400" b="1" dirty="0">
              <a:solidFill>
                <a:srgbClr val="E9F4FA"/>
              </a:solidFill>
              <a:latin typeface="GE SS Two Medium"/>
              <a:ea typeface="GE SS Two Medium"/>
              <a:cs typeface="GE SS Two Medium"/>
              <a:sym typeface="GE SS Two Medium"/>
              <a:rtl/>
            </a:endParaRPr>
          </a:p>
          <a:p>
            <a:pPr algn="r" rtl="1">
              <a:lnSpc>
                <a:spcPts val="3863"/>
              </a:lnSpc>
            </a:pPr>
            <a:r>
              <a:rPr lang="ar-EG" sz="2400" b="1" dirty="0">
                <a:solidFill>
                  <a:srgbClr val="E9F4FA"/>
                </a:solidFill>
                <a:latin typeface="GE SS Two Medium"/>
                <a:ea typeface="GE SS Two Medium"/>
                <a:cs typeface="GE SS Two Medium"/>
                <a:sym typeface="GE SS Two Medium"/>
                <a:rtl/>
              </a:rPr>
              <a:t>يمكنك استخدام هذه النقطة لتوضيح أن شجرة اللبان ليست مجرد رمز ثقافي، بل مورد له خصائص طبيعية وتجارية تستحق الدراسة.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34" name="Freeform 2">
            <a:extLst>
              <a:ext uri="{FF2B5EF4-FFF2-40B4-BE49-F238E27FC236}">
                <a16:creationId xmlns:a16="http://schemas.microsoft.com/office/drawing/2014/main" id="{942B52E6-9702-834A-5C81-30B4655CEE80}"/>
              </a:ext>
            </a:extLst>
          </p:cNvPr>
          <p:cNvSpPr/>
          <p:nvPr/>
        </p:nvSpPr>
        <p:spPr>
          <a:xfrm>
            <a:off x="-7936599" y="-3872576"/>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a:off x="-3851273" y="1406266"/>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13081656" y="-3726137"/>
            <a:ext cx="8355287" cy="8355287"/>
          </a:xfrm>
          <a:custGeom>
            <a:avLst/>
            <a:gdLst/>
            <a:ahLst/>
            <a:cxnLst/>
            <a:rect l="l" t="t" r="r" b="b"/>
            <a:pathLst>
              <a:path w="8355287" h="8355287">
                <a:moveTo>
                  <a:pt x="0" y="0"/>
                </a:moveTo>
                <a:lnTo>
                  <a:pt x="8355288" y="0"/>
                </a:lnTo>
                <a:lnTo>
                  <a:pt x="8355288" y="8355287"/>
                </a:lnTo>
                <a:lnTo>
                  <a:pt x="0" y="8355287"/>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sp>
        <p:nvSpPr>
          <p:cNvPr id="4" name="TextBox 4"/>
          <p:cNvSpPr txBox="1"/>
          <p:nvPr/>
        </p:nvSpPr>
        <p:spPr>
          <a:xfrm>
            <a:off x="2314767" y="1227571"/>
            <a:ext cx="13658466" cy="781955"/>
          </a:xfrm>
          <a:prstGeom prst="rect">
            <a:avLst/>
          </a:prstGeom>
        </p:spPr>
        <p:txBody>
          <a:bodyPr lIns="0" tIns="0" rIns="0" bIns="0" rtlCol="0" anchor="t">
            <a:spAutoFit/>
          </a:bodyPr>
          <a:lstStyle/>
          <a:p>
            <a:pPr algn="ctr" rtl="1">
              <a:lnSpc>
                <a:spcPts val="5513"/>
              </a:lnSpc>
            </a:pPr>
            <a:r>
              <a:rPr lang="ar-EG" sz="4594" b="1">
                <a:solidFill>
                  <a:srgbClr val="E9F4FA"/>
                </a:solidFill>
                <a:latin typeface="GE SS Two Medium"/>
                <a:ea typeface="GE SS Two Medium"/>
                <a:cs typeface="GE SS Two Medium"/>
                <a:sym typeface="GE SS Two Medium"/>
                <a:rtl/>
              </a:rPr>
              <a:t>نحو مستقبل مستدام (طرق المحافظة عليها )</a:t>
            </a:r>
          </a:p>
        </p:txBody>
      </p:sp>
      <p:sp>
        <p:nvSpPr>
          <p:cNvPr id="5" name="Freeform 5"/>
          <p:cNvSpPr/>
          <p:nvPr/>
        </p:nvSpPr>
        <p:spPr>
          <a:xfrm>
            <a:off x="-1835009" y="-1893800"/>
            <a:ext cx="4439138" cy="4439138"/>
          </a:xfrm>
          <a:custGeom>
            <a:avLst/>
            <a:gdLst/>
            <a:ahLst/>
            <a:cxnLst/>
            <a:rect l="l" t="t" r="r" b="b"/>
            <a:pathLst>
              <a:path w="4439138" h="4439138">
                <a:moveTo>
                  <a:pt x="0" y="0"/>
                </a:moveTo>
                <a:lnTo>
                  <a:pt x="4439138" y="0"/>
                </a:lnTo>
                <a:lnTo>
                  <a:pt x="4439138" y="4439138"/>
                </a:lnTo>
                <a:lnTo>
                  <a:pt x="0" y="4439138"/>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sp>
        <p:nvSpPr>
          <p:cNvPr id="6" name="Freeform 6"/>
          <p:cNvSpPr/>
          <p:nvPr/>
        </p:nvSpPr>
        <p:spPr>
          <a:xfrm>
            <a:off x="15758441" y="8594697"/>
            <a:ext cx="4439138" cy="4439138"/>
          </a:xfrm>
          <a:custGeom>
            <a:avLst/>
            <a:gdLst/>
            <a:ahLst/>
            <a:cxnLst/>
            <a:rect l="l" t="t" r="r" b="b"/>
            <a:pathLst>
              <a:path w="4439138" h="4439138">
                <a:moveTo>
                  <a:pt x="0" y="0"/>
                </a:moveTo>
                <a:lnTo>
                  <a:pt x="4439138" y="0"/>
                </a:lnTo>
                <a:lnTo>
                  <a:pt x="4439138" y="4439138"/>
                </a:lnTo>
                <a:lnTo>
                  <a:pt x="0" y="4439138"/>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ar-OM"/>
          </a:p>
        </p:txBody>
      </p:sp>
      <p:sp>
        <p:nvSpPr>
          <p:cNvPr id="7" name="Freeform 7"/>
          <p:cNvSpPr/>
          <p:nvPr/>
        </p:nvSpPr>
        <p:spPr>
          <a:xfrm>
            <a:off x="-5275753" y="6436525"/>
            <a:ext cx="10551506" cy="10551506"/>
          </a:xfrm>
          <a:custGeom>
            <a:avLst/>
            <a:gdLst/>
            <a:ahLst/>
            <a:cxnLst/>
            <a:rect l="l" t="t" r="r" b="b"/>
            <a:pathLst>
              <a:path w="10551506" h="10551506">
                <a:moveTo>
                  <a:pt x="0" y="0"/>
                </a:moveTo>
                <a:lnTo>
                  <a:pt x="10551506" y="0"/>
                </a:lnTo>
                <a:lnTo>
                  <a:pt x="10551506" y="10551506"/>
                </a:lnTo>
                <a:lnTo>
                  <a:pt x="0" y="105515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grpSp>
        <p:nvGrpSpPr>
          <p:cNvPr id="35" name="Group 50">
            <a:extLst>
              <a:ext uri="{FF2B5EF4-FFF2-40B4-BE49-F238E27FC236}">
                <a16:creationId xmlns:a16="http://schemas.microsoft.com/office/drawing/2014/main" id="{FC0FD06E-59FA-A486-5221-C045395262FF}"/>
              </a:ext>
            </a:extLst>
          </p:cNvPr>
          <p:cNvGrpSpPr/>
          <p:nvPr/>
        </p:nvGrpSpPr>
        <p:grpSpPr>
          <a:xfrm>
            <a:off x="838200" y="6667500"/>
            <a:ext cx="16916400" cy="2427381"/>
            <a:chOff x="0" y="0"/>
            <a:chExt cx="2582216" cy="453857"/>
          </a:xfrm>
        </p:grpSpPr>
        <p:sp>
          <p:nvSpPr>
            <p:cNvPr id="36" name="Freeform 51">
              <a:extLst>
                <a:ext uri="{FF2B5EF4-FFF2-40B4-BE49-F238E27FC236}">
                  <a16:creationId xmlns:a16="http://schemas.microsoft.com/office/drawing/2014/main" id="{701C6FF3-EE36-CB13-DED0-2C6A41191A16}"/>
                </a:ext>
              </a:extLst>
            </p:cNvPr>
            <p:cNvSpPr/>
            <p:nvPr/>
          </p:nvSpPr>
          <p:spPr>
            <a:xfrm>
              <a:off x="0" y="0"/>
              <a:ext cx="2582216" cy="453857"/>
            </a:xfrm>
            <a:custGeom>
              <a:avLst/>
              <a:gdLst/>
              <a:ahLst/>
              <a:cxnLst/>
              <a:rect l="l" t="t" r="r" b="b"/>
              <a:pathLst>
                <a:path w="2582216" h="453857">
                  <a:moveTo>
                    <a:pt x="28527" y="0"/>
                  </a:moveTo>
                  <a:lnTo>
                    <a:pt x="2553689" y="0"/>
                  </a:lnTo>
                  <a:cubicBezTo>
                    <a:pt x="2569444" y="0"/>
                    <a:pt x="2582216" y="12772"/>
                    <a:pt x="2582216" y="28527"/>
                  </a:cubicBezTo>
                  <a:lnTo>
                    <a:pt x="2582216" y="425330"/>
                  </a:lnTo>
                  <a:cubicBezTo>
                    <a:pt x="2582216" y="441085"/>
                    <a:pt x="2569444" y="453857"/>
                    <a:pt x="2553689" y="453857"/>
                  </a:cubicBezTo>
                  <a:lnTo>
                    <a:pt x="28527" y="453857"/>
                  </a:lnTo>
                  <a:cubicBezTo>
                    <a:pt x="12772" y="453857"/>
                    <a:pt x="0" y="441085"/>
                    <a:pt x="0" y="425330"/>
                  </a:cubicBezTo>
                  <a:lnTo>
                    <a:pt x="0" y="28527"/>
                  </a:lnTo>
                  <a:cubicBezTo>
                    <a:pt x="0" y="12772"/>
                    <a:pt x="12772" y="0"/>
                    <a:pt x="28527"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37" name="TextBox 52">
              <a:extLst>
                <a:ext uri="{FF2B5EF4-FFF2-40B4-BE49-F238E27FC236}">
                  <a16:creationId xmlns:a16="http://schemas.microsoft.com/office/drawing/2014/main" id="{E0AF9C06-FC89-8817-2F13-E17B3DD9709C}"/>
                </a:ext>
              </a:extLst>
            </p:cNvPr>
            <p:cNvSpPr txBox="1"/>
            <p:nvPr/>
          </p:nvSpPr>
          <p:spPr>
            <a:xfrm>
              <a:off x="0" y="-85725"/>
              <a:ext cx="2582216" cy="539582"/>
            </a:xfrm>
            <a:prstGeom prst="rect">
              <a:avLst/>
            </a:prstGeom>
          </p:spPr>
          <p:txBody>
            <a:bodyPr lIns="50800" tIns="50800" rIns="50800" bIns="50800" rtlCol="0" anchor="ctr"/>
            <a:lstStyle/>
            <a:p>
              <a:pPr algn="ctr">
                <a:lnSpc>
                  <a:spcPts val="3161"/>
                </a:lnSpc>
              </a:pPr>
              <a:endParaRPr/>
            </a:p>
          </p:txBody>
        </p:sp>
      </p:grpSp>
      <p:sp>
        <p:nvSpPr>
          <p:cNvPr id="28" name="TextBox 28"/>
          <p:cNvSpPr txBox="1"/>
          <p:nvPr/>
        </p:nvSpPr>
        <p:spPr>
          <a:xfrm>
            <a:off x="14539349" y="6954779"/>
            <a:ext cx="2453251" cy="1652386"/>
          </a:xfrm>
          <a:prstGeom prst="rect">
            <a:avLst/>
          </a:prstGeom>
        </p:spPr>
        <p:txBody>
          <a:bodyPr lIns="0" tIns="0" rIns="0" bIns="0" rtlCol="0" anchor="t">
            <a:spAutoFit/>
          </a:bodyPr>
          <a:lstStyle/>
          <a:p>
            <a:pPr algn="ctr" rtl="1">
              <a:lnSpc>
                <a:spcPts val="3925"/>
              </a:lnSpc>
            </a:pPr>
            <a:r>
              <a:rPr lang="ar-EG" sz="2408" b="1">
                <a:solidFill>
                  <a:srgbClr val="E9F4FA"/>
                </a:solidFill>
                <a:latin typeface="GE SS Two Medium"/>
                <a:ea typeface="GE SS Two Medium"/>
                <a:cs typeface="GE SS Two Medium"/>
                <a:sym typeface="GE SS Two Medium"/>
                <a:rtl/>
              </a:rPr>
              <a:t>حماية الأشجار:</a:t>
            </a:r>
          </a:p>
          <a:p>
            <a:pPr algn="ctr" rtl="1">
              <a:lnSpc>
                <a:spcPts val="2987"/>
              </a:lnSpc>
            </a:pPr>
            <a:r>
              <a:rPr lang="ar-EG" sz="1833" b="1">
                <a:solidFill>
                  <a:srgbClr val="E9F4FA"/>
                </a:solidFill>
                <a:latin typeface="GE SS Two Medium"/>
                <a:ea typeface="GE SS Two Medium"/>
                <a:cs typeface="GE SS Two Medium"/>
                <a:sym typeface="GE SS Two Medium"/>
                <a:rtl/>
              </a:rPr>
              <a:t> تجنب الممارسات التي تؤدي إلى إضعاف الشجرة أو إتلاف لحائها.</a:t>
            </a:r>
          </a:p>
        </p:txBody>
      </p:sp>
      <p:sp>
        <p:nvSpPr>
          <p:cNvPr id="29" name="TextBox 29"/>
          <p:cNvSpPr txBox="1"/>
          <p:nvPr/>
        </p:nvSpPr>
        <p:spPr>
          <a:xfrm>
            <a:off x="11356481" y="6954779"/>
            <a:ext cx="2740519" cy="1652386"/>
          </a:xfrm>
          <a:prstGeom prst="rect">
            <a:avLst/>
          </a:prstGeom>
        </p:spPr>
        <p:txBody>
          <a:bodyPr wrap="square" lIns="0" tIns="0" rIns="0" bIns="0" rtlCol="0" anchor="t">
            <a:spAutoFit/>
          </a:bodyPr>
          <a:lstStyle/>
          <a:p>
            <a:pPr algn="ctr" rtl="1">
              <a:lnSpc>
                <a:spcPts val="3925"/>
              </a:lnSpc>
            </a:pPr>
            <a:r>
              <a:rPr lang="ar-EG" sz="2408" b="1" dirty="0">
                <a:solidFill>
                  <a:srgbClr val="E9F4FA"/>
                </a:solidFill>
                <a:latin typeface="GE SS Two Medium"/>
                <a:ea typeface="GE SS Two Medium"/>
                <a:cs typeface="GE SS Two Medium"/>
                <a:sym typeface="GE SS Two Medium"/>
                <a:rtl/>
              </a:rPr>
              <a:t>تنظيم جمع اللبان:</a:t>
            </a:r>
          </a:p>
          <a:p>
            <a:pPr algn="ctr" rtl="1">
              <a:lnSpc>
                <a:spcPts val="2987"/>
              </a:lnSpc>
            </a:pPr>
            <a:r>
              <a:rPr lang="ar-EG" sz="1833" b="1" dirty="0">
                <a:solidFill>
                  <a:srgbClr val="E9F4FA"/>
                </a:solidFill>
                <a:latin typeface="GE SS Two Medium"/>
                <a:ea typeface="GE SS Two Medium"/>
                <a:cs typeface="GE SS Two Medium"/>
                <a:sym typeface="GE SS Two Medium"/>
                <a:rtl/>
              </a:rPr>
              <a:t> مراعاة قدرة الأشجار على التعافي وعدم الإفراط في استخراج إفرازاتها. </a:t>
            </a:r>
          </a:p>
        </p:txBody>
      </p:sp>
      <p:sp>
        <p:nvSpPr>
          <p:cNvPr id="30" name="TextBox 30"/>
          <p:cNvSpPr txBox="1"/>
          <p:nvPr/>
        </p:nvSpPr>
        <p:spPr>
          <a:xfrm>
            <a:off x="7965528" y="6954779"/>
            <a:ext cx="3159672" cy="1652386"/>
          </a:xfrm>
          <a:prstGeom prst="rect">
            <a:avLst/>
          </a:prstGeom>
        </p:spPr>
        <p:txBody>
          <a:bodyPr wrap="square" lIns="0" tIns="0" rIns="0" bIns="0" rtlCol="0" anchor="t">
            <a:spAutoFit/>
          </a:bodyPr>
          <a:lstStyle/>
          <a:p>
            <a:pPr algn="ctr" rtl="1">
              <a:lnSpc>
                <a:spcPts val="3925"/>
              </a:lnSpc>
            </a:pPr>
            <a:r>
              <a:rPr lang="ar-EG" sz="2408" b="1" dirty="0">
                <a:solidFill>
                  <a:srgbClr val="E9F4FA"/>
                </a:solidFill>
                <a:latin typeface="GE SS Two Medium"/>
                <a:ea typeface="GE SS Two Medium"/>
                <a:cs typeface="GE SS Two Medium"/>
                <a:sym typeface="GE SS Two Medium"/>
                <a:rtl/>
              </a:rPr>
              <a:t>المحافظة على البيئة: </a:t>
            </a:r>
          </a:p>
          <a:p>
            <a:pPr algn="ctr" rtl="1">
              <a:lnSpc>
                <a:spcPts val="2987"/>
              </a:lnSpc>
            </a:pPr>
            <a:r>
              <a:rPr lang="ar-EG" sz="1833" b="1" dirty="0">
                <a:solidFill>
                  <a:srgbClr val="E9F4FA"/>
                </a:solidFill>
                <a:latin typeface="GE SS Two Medium"/>
                <a:ea typeface="GE SS Two Medium"/>
                <a:cs typeface="GE SS Two Medium"/>
                <a:sym typeface="GE SS Two Medium"/>
                <a:rtl/>
              </a:rPr>
              <a:t>حماية الموائل الطبيعية للأشجار من التدهور والرعي الجائر. </a:t>
            </a:r>
          </a:p>
        </p:txBody>
      </p:sp>
      <p:sp>
        <p:nvSpPr>
          <p:cNvPr id="31" name="TextBox 31"/>
          <p:cNvSpPr txBox="1"/>
          <p:nvPr/>
        </p:nvSpPr>
        <p:spPr>
          <a:xfrm>
            <a:off x="4648200" y="6954779"/>
            <a:ext cx="3091834" cy="1652386"/>
          </a:xfrm>
          <a:prstGeom prst="rect">
            <a:avLst/>
          </a:prstGeom>
        </p:spPr>
        <p:txBody>
          <a:bodyPr lIns="0" tIns="0" rIns="0" bIns="0" rtlCol="0" anchor="t">
            <a:spAutoFit/>
          </a:bodyPr>
          <a:lstStyle/>
          <a:p>
            <a:pPr algn="ctr" rtl="1">
              <a:lnSpc>
                <a:spcPts val="3925"/>
              </a:lnSpc>
            </a:pPr>
            <a:r>
              <a:rPr lang="ar-EG" sz="2408" b="1" dirty="0">
                <a:solidFill>
                  <a:srgbClr val="E9F4FA"/>
                </a:solidFill>
                <a:latin typeface="GE SS Two Medium"/>
                <a:ea typeface="GE SS Two Medium"/>
                <a:cs typeface="GE SS Two Medium"/>
                <a:sym typeface="GE SS Two Medium"/>
                <a:rtl/>
              </a:rPr>
              <a:t>نقل المعرفة للأجيال:</a:t>
            </a:r>
          </a:p>
          <a:p>
            <a:pPr algn="ctr" rtl="1">
              <a:lnSpc>
                <a:spcPts val="2987"/>
              </a:lnSpc>
            </a:pPr>
            <a:r>
              <a:rPr lang="ar-EG" sz="1833" b="1" dirty="0">
                <a:solidFill>
                  <a:srgbClr val="E9F4FA"/>
                </a:solidFill>
                <a:latin typeface="GE SS Two Medium"/>
                <a:ea typeface="GE SS Two Medium"/>
                <a:cs typeface="GE SS Two Medium"/>
                <a:sym typeface="GE SS Two Medium"/>
                <a:rtl/>
              </a:rPr>
              <a:t> توثيق خبرات جامعي اللبان وتعريف الطلبة بطرق جمعه التقليدية. </a:t>
            </a:r>
          </a:p>
        </p:txBody>
      </p:sp>
      <p:sp>
        <p:nvSpPr>
          <p:cNvPr id="32" name="TextBox 32"/>
          <p:cNvSpPr txBox="1"/>
          <p:nvPr/>
        </p:nvSpPr>
        <p:spPr>
          <a:xfrm>
            <a:off x="881681" y="6882894"/>
            <a:ext cx="3614119" cy="1652386"/>
          </a:xfrm>
          <a:prstGeom prst="rect">
            <a:avLst/>
          </a:prstGeom>
        </p:spPr>
        <p:txBody>
          <a:bodyPr wrap="square" lIns="0" tIns="0" rIns="0" bIns="0" rtlCol="0" anchor="t">
            <a:spAutoFit/>
          </a:bodyPr>
          <a:lstStyle/>
          <a:p>
            <a:pPr algn="ctr" rtl="1">
              <a:lnSpc>
                <a:spcPts val="3925"/>
              </a:lnSpc>
            </a:pPr>
            <a:r>
              <a:rPr lang="ar-EG" sz="2408" b="1" dirty="0">
                <a:solidFill>
                  <a:srgbClr val="E9F4FA"/>
                </a:solidFill>
                <a:latin typeface="GE SS Two Medium"/>
                <a:ea typeface="GE SS Two Medium"/>
                <a:cs typeface="GE SS Two Medium"/>
                <a:sym typeface="GE SS Two Medium"/>
                <a:rtl/>
              </a:rPr>
              <a:t>تشجيع البحث العلمي:</a:t>
            </a:r>
          </a:p>
          <a:p>
            <a:pPr algn="ctr" rtl="1">
              <a:lnSpc>
                <a:spcPts val="2987"/>
              </a:lnSpc>
            </a:pPr>
            <a:r>
              <a:rPr lang="ar-EG" sz="1833" b="1" dirty="0">
                <a:solidFill>
                  <a:srgbClr val="E9F4FA"/>
                </a:solidFill>
                <a:latin typeface="GE SS Two Medium"/>
                <a:ea typeface="GE SS Two Medium"/>
                <a:cs typeface="GE SS Two Medium"/>
                <a:sym typeface="GE SS Two Medium"/>
                <a:rtl/>
              </a:rPr>
              <a:t> دراسة طرق إكثار الشجرة وتحسين أساليب المحافظة عليها والاستفادة المستدامة منها. </a:t>
            </a:r>
          </a:p>
        </p:txBody>
      </p:sp>
      <p:sp>
        <p:nvSpPr>
          <p:cNvPr id="8" name="Freeform 8"/>
          <p:cNvSpPr/>
          <p:nvPr/>
        </p:nvSpPr>
        <p:spPr>
          <a:xfrm>
            <a:off x="14378536" y="4264896"/>
            <a:ext cx="2614064" cy="2614064"/>
          </a:xfrm>
          <a:custGeom>
            <a:avLst/>
            <a:gdLst/>
            <a:ahLst/>
            <a:cxnLst/>
            <a:rect l="l" t="t" r="r" b="b"/>
            <a:pathLst>
              <a:path w="2614064" h="2614064">
                <a:moveTo>
                  <a:pt x="0" y="0"/>
                </a:moveTo>
                <a:lnTo>
                  <a:pt x="2614064" y="0"/>
                </a:lnTo>
                <a:lnTo>
                  <a:pt x="2614064" y="2614064"/>
                </a:lnTo>
                <a:lnTo>
                  <a:pt x="0" y="261406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9" name="Group 9"/>
          <p:cNvGrpSpPr>
            <a:grpSpLocks noChangeAspect="1"/>
          </p:cNvGrpSpPr>
          <p:nvPr/>
        </p:nvGrpSpPr>
        <p:grpSpPr>
          <a:xfrm>
            <a:off x="14409494" y="4300839"/>
            <a:ext cx="2552148" cy="2542179"/>
            <a:chOff x="0" y="0"/>
            <a:chExt cx="6502400" cy="6477000"/>
          </a:xfrm>
        </p:grpSpPr>
        <p:sp>
          <p:nvSpPr>
            <p:cNvPr id="10" name="Freeform 10"/>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6"/>
              <a:stretch>
                <a:fillRect l="-24478" r="-24478"/>
              </a:stretch>
            </a:blipFill>
          </p:spPr>
          <p:txBody>
            <a:bodyPr/>
            <a:lstStyle/>
            <a:p>
              <a:endParaRPr lang="ar-OM"/>
            </a:p>
          </p:txBody>
        </p:sp>
        <p:sp>
          <p:nvSpPr>
            <p:cNvPr id="11" name="Freeform 11"/>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E9E9E9"/>
            </a:solidFill>
          </p:spPr>
          <p:txBody>
            <a:bodyPr/>
            <a:lstStyle/>
            <a:p>
              <a:endParaRPr lang="ar-OM"/>
            </a:p>
          </p:txBody>
        </p:sp>
      </p:grpSp>
      <p:sp>
        <p:nvSpPr>
          <p:cNvPr id="12" name="Freeform 12"/>
          <p:cNvSpPr/>
          <p:nvPr/>
        </p:nvSpPr>
        <p:spPr>
          <a:xfrm>
            <a:off x="11296856" y="4264896"/>
            <a:ext cx="2614064" cy="2614064"/>
          </a:xfrm>
          <a:custGeom>
            <a:avLst/>
            <a:gdLst/>
            <a:ahLst/>
            <a:cxnLst/>
            <a:rect l="l" t="t" r="r" b="b"/>
            <a:pathLst>
              <a:path w="2614064" h="2614064">
                <a:moveTo>
                  <a:pt x="0" y="0"/>
                </a:moveTo>
                <a:lnTo>
                  <a:pt x="2614064" y="0"/>
                </a:lnTo>
                <a:lnTo>
                  <a:pt x="2614064" y="2614064"/>
                </a:lnTo>
                <a:lnTo>
                  <a:pt x="0" y="261406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13" name="Group 13"/>
          <p:cNvGrpSpPr>
            <a:grpSpLocks noChangeAspect="1"/>
          </p:cNvGrpSpPr>
          <p:nvPr/>
        </p:nvGrpSpPr>
        <p:grpSpPr>
          <a:xfrm>
            <a:off x="11327814" y="4300839"/>
            <a:ext cx="2552148" cy="2542179"/>
            <a:chOff x="0" y="0"/>
            <a:chExt cx="6502400" cy="6477000"/>
          </a:xfrm>
        </p:grpSpPr>
        <p:sp>
          <p:nvSpPr>
            <p:cNvPr id="14" name="Freeform 14"/>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7"/>
              <a:stretch>
                <a:fillRect l="223" t="-18026" r="223" b="-18026"/>
              </a:stretch>
            </a:blipFill>
          </p:spPr>
          <p:txBody>
            <a:bodyPr/>
            <a:lstStyle/>
            <a:p>
              <a:endParaRPr lang="ar-OM"/>
            </a:p>
          </p:txBody>
        </p:sp>
        <p:sp>
          <p:nvSpPr>
            <p:cNvPr id="15" name="Freeform 15"/>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E9E9E9"/>
            </a:solidFill>
          </p:spPr>
          <p:txBody>
            <a:bodyPr/>
            <a:lstStyle/>
            <a:p>
              <a:endParaRPr lang="ar-OM"/>
            </a:p>
          </p:txBody>
        </p:sp>
      </p:grpSp>
      <p:sp>
        <p:nvSpPr>
          <p:cNvPr id="16" name="Freeform 16"/>
          <p:cNvSpPr/>
          <p:nvPr/>
        </p:nvSpPr>
        <p:spPr>
          <a:xfrm>
            <a:off x="8330612" y="4264896"/>
            <a:ext cx="2614064" cy="2614064"/>
          </a:xfrm>
          <a:custGeom>
            <a:avLst/>
            <a:gdLst/>
            <a:ahLst/>
            <a:cxnLst/>
            <a:rect l="l" t="t" r="r" b="b"/>
            <a:pathLst>
              <a:path w="2614064" h="2614064">
                <a:moveTo>
                  <a:pt x="0" y="0"/>
                </a:moveTo>
                <a:lnTo>
                  <a:pt x="2614064" y="0"/>
                </a:lnTo>
                <a:lnTo>
                  <a:pt x="2614064" y="2614064"/>
                </a:lnTo>
                <a:lnTo>
                  <a:pt x="0" y="261406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17" name="Group 17"/>
          <p:cNvGrpSpPr>
            <a:grpSpLocks noChangeAspect="1"/>
          </p:cNvGrpSpPr>
          <p:nvPr/>
        </p:nvGrpSpPr>
        <p:grpSpPr>
          <a:xfrm>
            <a:off x="8361570" y="4300839"/>
            <a:ext cx="2552148" cy="2542179"/>
            <a:chOff x="0" y="0"/>
            <a:chExt cx="6502400" cy="6477000"/>
          </a:xfrm>
        </p:grpSpPr>
        <p:sp>
          <p:nvSpPr>
            <p:cNvPr id="18" name="Freeform 18"/>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2"/>
              <a:stretch>
                <a:fillRect l="-49553" r="-49553"/>
              </a:stretch>
            </a:blipFill>
          </p:spPr>
          <p:txBody>
            <a:bodyPr/>
            <a:lstStyle/>
            <a:p>
              <a:endParaRPr lang="ar-OM"/>
            </a:p>
          </p:txBody>
        </p:sp>
        <p:sp>
          <p:nvSpPr>
            <p:cNvPr id="19" name="Freeform 19"/>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E9E9E9"/>
            </a:solidFill>
          </p:spPr>
          <p:txBody>
            <a:bodyPr/>
            <a:lstStyle/>
            <a:p>
              <a:endParaRPr lang="ar-OM"/>
            </a:p>
          </p:txBody>
        </p:sp>
      </p:grpSp>
      <p:sp>
        <p:nvSpPr>
          <p:cNvPr id="20" name="Freeform 20"/>
          <p:cNvSpPr/>
          <p:nvPr/>
        </p:nvSpPr>
        <p:spPr>
          <a:xfrm>
            <a:off x="4887085" y="4264896"/>
            <a:ext cx="2614064" cy="2614064"/>
          </a:xfrm>
          <a:custGeom>
            <a:avLst/>
            <a:gdLst/>
            <a:ahLst/>
            <a:cxnLst/>
            <a:rect l="l" t="t" r="r" b="b"/>
            <a:pathLst>
              <a:path w="2614064" h="2614064">
                <a:moveTo>
                  <a:pt x="0" y="0"/>
                </a:moveTo>
                <a:lnTo>
                  <a:pt x="2614064" y="0"/>
                </a:lnTo>
                <a:lnTo>
                  <a:pt x="2614064" y="2614064"/>
                </a:lnTo>
                <a:lnTo>
                  <a:pt x="0" y="261406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21" name="Group 21"/>
          <p:cNvGrpSpPr>
            <a:grpSpLocks noChangeAspect="1"/>
          </p:cNvGrpSpPr>
          <p:nvPr/>
        </p:nvGrpSpPr>
        <p:grpSpPr>
          <a:xfrm>
            <a:off x="4918043" y="4300839"/>
            <a:ext cx="2552148" cy="2542179"/>
            <a:chOff x="0" y="0"/>
            <a:chExt cx="6502400" cy="6477000"/>
          </a:xfrm>
        </p:grpSpPr>
        <p:sp>
          <p:nvSpPr>
            <p:cNvPr id="22" name="Freeform 22"/>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8"/>
              <a:stretch>
                <a:fillRect l="223" t="-8822" r="223" b="-8822"/>
              </a:stretch>
            </a:blipFill>
          </p:spPr>
          <p:txBody>
            <a:bodyPr/>
            <a:lstStyle/>
            <a:p>
              <a:endParaRPr lang="ar-OM"/>
            </a:p>
          </p:txBody>
        </p:sp>
        <p:sp>
          <p:nvSpPr>
            <p:cNvPr id="23" name="Freeform 23"/>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E9E9E9"/>
            </a:solidFill>
          </p:spPr>
          <p:txBody>
            <a:bodyPr/>
            <a:lstStyle/>
            <a:p>
              <a:endParaRPr lang="ar-OM"/>
            </a:p>
          </p:txBody>
        </p:sp>
      </p:grpSp>
      <p:grpSp>
        <p:nvGrpSpPr>
          <p:cNvPr id="24" name="Group 24"/>
          <p:cNvGrpSpPr>
            <a:grpSpLocks noChangeAspect="1"/>
          </p:cNvGrpSpPr>
          <p:nvPr/>
        </p:nvGrpSpPr>
        <p:grpSpPr>
          <a:xfrm>
            <a:off x="1504240" y="4264896"/>
            <a:ext cx="2552148" cy="2542179"/>
            <a:chOff x="0" y="0"/>
            <a:chExt cx="6502400" cy="6477000"/>
          </a:xfrm>
        </p:grpSpPr>
        <p:sp>
          <p:nvSpPr>
            <p:cNvPr id="25" name="Freeform 25"/>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9"/>
              <a:stretch>
                <a:fillRect l="223" r="223"/>
              </a:stretch>
            </a:blipFill>
          </p:spPr>
          <p:txBody>
            <a:bodyPr/>
            <a:lstStyle/>
            <a:p>
              <a:endParaRPr lang="ar-OM"/>
            </a:p>
          </p:txBody>
        </p:sp>
        <p:sp>
          <p:nvSpPr>
            <p:cNvPr id="26" name="Freeform 26"/>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E9E9E9"/>
            </a:solidFill>
          </p:spPr>
          <p:txBody>
            <a:bodyPr/>
            <a:lstStyle/>
            <a:p>
              <a:endParaRPr lang="ar-OM"/>
            </a:p>
          </p:txBody>
        </p:sp>
      </p:grpSp>
      <p:sp>
        <p:nvSpPr>
          <p:cNvPr id="27" name="TextBox 27"/>
          <p:cNvSpPr txBox="1"/>
          <p:nvPr/>
        </p:nvSpPr>
        <p:spPr>
          <a:xfrm>
            <a:off x="4495801" y="2530604"/>
            <a:ext cx="12143536" cy="974626"/>
          </a:xfrm>
          <a:prstGeom prst="rect">
            <a:avLst/>
          </a:prstGeom>
        </p:spPr>
        <p:txBody>
          <a:bodyPr wrap="square" lIns="0" tIns="0" rIns="0" bIns="0" rtlCol="0" anchor="t">
            <a:spAutoFit/>
          </a:bodyPr>
          <a:lstStyle/>
          <a:p>
            <a:pPr algn="r" rtl="1">
              <a:lnSpc>
                <a:spcPts val="3775"/>
              </a:lnSpc>
            </a:pPr>
            <a:r>
              <a:rPr lang="ar-EG" sz="2800" b="1" dirty="0">
                <a:solidFill>
                  <a:srgbClr val="E9F4FA"/>
                </a:solidFill>
                <a:latin typeface="GE SS Two Medium"/>
                <a:ea typeface="GE SS Two Medium"/>
                <a:cs typeface="GE SS Two Medium"/>
                <a:sym typeface="GE SS Two Medium"/>
                <a:rtl/>
              </a:rPr>
              <a:t>على الرغم من أهمية شجرة اللبان، فإن استمرارها يحتاج إلى اهتمام وجهود للمحافظة عليها، ومن أبرز الجوانب التي ينبغي التركيز عليها: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15" name="Freeform 2">
            <a:extLst>
              <a:ext uri="{FF2B5EF4-FFF2-40B4-BE49-F238E27FC236}">
                <a16:creationId xmlns:a16="http://schemas.microsoft.com/office/drawing/2014/main" id="{FC4A739C-168E-5215-21C8-EF9C899C5424}"/>
              </a:ext>
            </a:extLst>
          </p:cNvPr>
          <p:cNvSpPr/>
          <p:nvPr/>
        </p:nvSpPr>
        <p:spPr>
          <a:xfrm>
            <a:off x="-823367" y="-2511029"/>
            <a:ext cx="28575000" cy="16326964"/>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a:off x="615959" y="-422910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1158401" y="10287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4" name="Freeform 4"/>
          <p:cNvSpPr/>
          <p:nvPr/>
        </p:nvSpPr>
        <p:spPr>
          <a:xfrm>
            <a:off x="-8610836" y="-1798519"/>
            <a:ext cx="13884037" cy="13884037"/>
          </a:xfrm>
          <a:custGeom>
            <a:avLst/>
            <a:gdLst/>
            <a:ahLst/>
            <a:cxnLst/>
            <a:rect l="l" t="t" r="r" b="b"/>
            <a:pathLst>
              <a:path w="13884037" h="13884037">
                <a:moveTo>
                  <a:pt x="0" y="0"/>
                </a:moveTo>
                <a:lnTo>
                  <a:pt x="13884037" y="0"/>
                </a:lnTo>
                <a:lnTo>
                  <a:pt x="13884037" y="13884038"/>
                </a:lnTo>
                <a:lnTo>
                  <a:pt x="0" y="13884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grpSp>
        <p:nvGrpSpPr>
          <p:cNvPr id="5" name="Group 5"/>
          <p:cNvGrpSpPr>
            <a:grpSpLocks noChangeAspect="1"/>
          </p:cNvGrpSpPr>
          <p:nvPr/>
        </p:nvGrpSpPr>
        <p:grpSpPr>
          <a:xfrm>
            <a:off x="2009878" y="1892924"/>
            <a:ext cx="6526646" cy="6501152"/>
            <a:chOff x="0" y="0"/>
            <a:chExt cx="6502400" cy="6477000"/>
          </a:xfrm>
        </p:grpSpPr>
        <p:sp>
          <p:nvSpPr>
            <p:cNvPr id="6" name="Freeform 6"/>
            <p:cNvSpPr/>
            <p:nvPr/>
          </p:nvSpPr>
          <p:spPr>
            <a:xfrm>
              <a:off x="116940" y="124149"/>
              <a:ext cx="6262195" cy="6234315"/>
            </a:xfrm>
            <a:custGeom>
              <a:avLst/>
              <a:gdLst/>
              <a:ahLst/>
              <a:cxnLst/>
              <a:rect l="l" t="t" r="r" b="b"/>
              <a:pathLst>
                <a:path w="6262195" h="6234315">
                  <a:moveTo>
                    <a:pt x="3131098" y="32"/>
                  </a:moveTo>
                  <a:cubicBezTo>
                    <a:pt x="2014135" y="-4964"/>
                    <a:pt x="979875" y="588062"/>
                    <a:pt x="419947" y="1554557"/>
                  </a:cubicBezTo>
                  <a:cubicBezTo>
                    <a:pt x="-139982" y="2521051"/>
                    <a:pt x="-139982" y="3713264"/>
                    <a:pt x="419947" y="4679759"/>
                  </a:cubicBezTo>
                  <a:cubicBezTo>
                    <a:pt x="979875" y="5646253"/>
                    <a:pt x="2014135" y="6239279"/>
                    <a:pt x="3131098" y="6234284"/>
                  </a:cubicBezTo>
                  <a:cubicBezTo>
                    <a:pt x="4248061" y="6239279"/>
                    <a:pt x="5282321" y="5646253"/>
                    <a:pt x="5842249" y="4679759"/>
                  </a:cubicBezTo>
                  <a:cubicBezTo>
                    <a:pt x="6402178" y="3713265"/>
                    <a:pt x="6402178" y="2521051"/>
                    <a:pt x="5842249" y="1554557"/>
                  </a:cubicBezTo>
                  <a:cubicBezTo>
                    <a:pt x="5282321" y="588063"/>
                    <a:pt x="4248061" y="-4963"/>
                    <a:pt x="3131098" y="32"/>
                  </a:cubicBezTo>
                  <a:close/>
                </a:path>
              </a:pathLst>
            </a:custGeom>
            <a:blipFill>
              <a:blip r:embed="rId6"/>
              <a:stretch>
                <a:fillRect l="223" t="-12781" r="223" b="-12781"/>
              </a:stretch>
            </a:blipFill>
          </p:spPr>
          <p:txBody>
            <a:bodyPr/>
            <a:lstStyle/>
            <a:p>
              <a:endParaRPr lang="ar-OM"/>
            </a:p>
          </p:txBody>
        </p:sp>
        <p:sp>
          <p:nvSpPr>
            <p:cNvPr id="7" name="Freeform 7"/>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FFFFFF"/>
            </a:solidFill>
          </p:spPr>
          <p:txBody>
            <a:bodyPr/>
            <a:lstStyle/>
            <a:p>
              <a:endParaRPr lang="ar-OM"/>
            </a:p>
          </p:txBody>
        </p:sp>
      </p:grpSp>
      <p:sp>
        <p:nvSpPr>
          <p:cNvPr id="8" name="Freeform 8"/>
          <p:cNvSpPr/>
          <p:nvPr/>
        </p:nvSpPr>
        <p:spPr>
          <a:xfrm>
            <a:off x="13639287" y="-4177644"/>
            <a:ext cx="8355287" cy="8355287"/>
          </a:xfrm>
          <a:custGeom>
            <a:avLst/>
            <a:gdLst/>
            <a:ahLst/>
            <a:cxnLst/>
            <a:rect l="l" t="t" r="r" b="b"/>
            <a:pathLst>
              <a:path w="8355287" h="8355287">
                <a:moveTo>
                  <a:pt x="0" y="0"/>
                </a:moveTo>
                <a:lnTo>
                  <a:pt x="8355288" y="0"/>
                </a:lnTo>
                <a:lnTo>
                  <a:pt x="8355288" y="8355288"/>
                </a:lnTo>
                <a:lnTo>
                  <a:pt x="0" y="8355288"/>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ar-OM"/>
          </a:p>
        </p:txBody>
      </p:sp>
      <p:sp>
        <p:nvSpPr>
          <p:cNvPr id="9" name="Freeform 9"/>
          <p:cNvSpPr/>
          <p:nvPr/>
        </p:nvSpPr>
        <p:spPr>
          <a:xfrm>
            <a:off x="14261850" y="6300850"/>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7"/>
                </a:ext>
              </a:extLst>
            </a:blip>
            <a:stretch>
              <a:fillRect/>
            </a:stretch>
          </a:blipFill>
        </p:spPr>
        <p:txBody>
          <a:bodyPr/>
          <a:lstStyle/>
          <a:p>
            <a:endParaRPr lang="ar-OM"/>
          </a:p>
        </p:txBody>
      </p:sp>
      <p:sp>
        <p:nvSpPr>
          <p:cNvPr id="10" name="Freeform 10"/>
          <p:cNvSpPr/>
          <p:nvPr/>
        </p:nvSpPr>
        <p:spPr>
          <a:xfrm>
            <a:off x="17774644" y="7660412"/>
            <a:ext cx="1307432" cy="1307432"/>
          </a:xfrm>
          <a:custGeom>
            <a:avLst/>
            <a:gdLst/>
            <a:ahLst/>
            <a:cxnLst/>
            <a:rect l="l" t="t" r="r" b="b"/>
            <a:pathLst>
              <a:path w="1307432" h="1307432">
                <a:moveTo>
                  <a:pt x="0" y="0"/>
                </a:moveTo>
                <a:lnTo>
                  <a:pt x="1307433" y="0"/>
                </a:lnTo>
                <a:lnTo>
                  <a:pt x="1307433" y="1307432"/>
                </a:lnTo>
                <a:lnTo>
                  <a:pt x="0" y="13074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11" name="TextBox 11"/>
          <p:cNvSpPr txBox="1"/>
          <p:nvPr/>
        </p:nvSpPr>
        <p:spPr>
          <a:xfrm>
            <a:off x="10557059" y="1788149"/>
            <a:ext cx="6649036" cy="1072746"/>
          </a:xfrm>
          <a:prstGeom prst="rect">
            <a:avLst/>
          </a:prstGeom>
        </p:spPr>
        <p:txBody>
          <a:bodyPr lIns="0" tIns="0" rIns="0" bIns="0" rtlCol="0" anchor="t">
            <a:spAutoFit/>
          </a:bodyPr>
          <a:lstStyle/>
          <a:p>
            <a:pPr algn="r" rtl="1">
              <a:lnSpc>
                <a:spcPts val="7675"/>
              </a:lnSpc>
            </a:pPr>
            <a:r>
              <a:rPr lang="ar-EG" sz="6396" b="1">
                <a:solidFill>
                  <a:srgbClr val="FFFFFF"/>
                </a:solidFill>
                <a:latin typeface="GE SS Two Medium"/>
                <a:ea typeface="GE SS Two Medium"/>
                <a:cs typeface="GE SS Two Medium"/>
                <a:sym typeface="GE SS Two Medium"/>
                <a:rtl/>
              </a:rPr>
              <a:t>وفي الختام</a:t>
            </a:r>
          </a:p>
        </p:txBody>
      </p:sp>
      <p:sp>
        <p:nvSpPr>
          <p:cNvPr id="12" name="TextBox 12"/>
          <p:cNvSpPr txBox="1"/>
          <p:nvPr/>
        </p:nvSpPr>
        <p:spPr>
          <a:xfrm>
            <a:off x="8878137" y="2939646"/>
            <a:ext cx="8381163" cy="1298682"/>
          </a:xfrm>
          <a:prstGeom prst="rect">
            <a:avLst/>
          </a:prstGeom>
        </p:spPr>
        <p:txBody>
          <a:bodyPr lIns="0" tIns="0" rIns="0" bIns="0" rtlCol="0" anchor="t">
            <a:spAutoFit/>
          </a:bodyPr>
          <a:lstStyle/>
          <a:p>
            <a:pPr algn="r" rtl="1">
              <a:lnSpc>
                <a:spcPts val="5074"/>
              </a:lnSpc>
            </a:pPr>
            <a:r>
              <a:rPr lang="ar-EG" sz="3428" b="1">
                <a:solidFill>
                  <a:srgbClr val="FFFFFF"/>
                </a:solidFill>
                <a:latin typeface="GE SS Two Medium"/>
                <a:ea typeface="GE SS Two Medium"/>
                <a:cs typeface="GE SS Two Medium"/>
                <a:sym typeface="GE SS Two Medium"/>
                <a:rtl/>
              </a:rPr>
              <a:t>شجرة اللبان العُمانية: </a:t>
            </a:r>
          </a:p>
          <a:p>
            <a:pPr algn="r" rtl="1">
              <a:lnSpc>
                <a:spcPts val="5074"/>
              </a:lnSpc>
            </a:pPr>
            <a:r>
              <a:rPr lang="ar-EG" sz="3428" b="1">
                <a:solidFill>
                  <a:srgbClr val="FFFFFF"/>
                </a:solidFill>
                <a:latin typeface="GE SS Two Medium"/>
                <a:ea typeface="GE SS Two Medium"/>
                <a:cs typeface="GE SS Two Medium"/>
                <a:sym typeface="GE SS Two Medium"/>
                <a:rtl/>
              </a:rPr>
              <a:t>كنز ظفار الذي يستحق الاكتشاف</a:t>
            </a:r>
          </a:p>
        </p:txBody>
      </p:sp>
      <p:grpSp>
        <p:nvGrpSpPr>
          <p:cNvPr id="16" name="Group 50">
            <a:extLst>
              <a:ext uri="{FF2B5EF4-FFF2-40B4-BE49-F238E27FC236}">
                <a16:creationId xmlns:a16="http://schemas.microsoft.com/office/drawing/2014/main" id="{CFA2A6FE-9D10-A088-BAA7-2D384BE83736}"/>
              </a:ext>
            </a:extLst>
          </p:cNvPr>
          <p:cNvGrpSpPr/>
          <p:nvPr/>
        </p:nvGrpSpPr>
        <p:grpSpPr>
          <a:xfrm>
            <a:off x="9525000" y="4523172"/>
            <a:ext cx="8229600" cy="4571710"/>
            <a:chOff x="0" y="0"/>
            <a:chExt cx="2582216" cy="453857"/>
          </a:xfrm>
        </p:grpSpPr>
        <p:sp>
          <p:nvSpPr>
            <p:cNvPr id="17" name="Freeform 51">
              <a:extLst>
                <a:ext uri="{FF2B5EF4-FFF2-40B4-BE49-F238E27FC236}">
                  <a16:creationId xmlns:a16="http://schemas.microsoft.com/office/drawing/2014/main" id="{BE5C8FBC-3536-DE44-A81F-539E5E0EF51C}"/>
                </a:ext>
              </a:extLst>
            </p:cNvPr>
            <p:cNvSpPr/>
            <p:nvPr/>
          </p:nvSpPr>
          <p:spPr>
            <a:xfrm>
              <a:off x="0" y="0"/>
              <a:ext cx="2582216" cy="453857"/>
            </a:xfrm>
            <a:custGeom>
              <a:avLst/>
              <a:gdLst/>
              <a:ahLst/>
              <a:cxnLst/>
              <a:rect l="l" t="t" r="r" b="b"/>
              <a:pathLst>
                <a:path w="2582216" h="453857">
                  <a:moveTo>
                    <a:pt x="28527" y="0"/>
                  </a:moveTo>
                  <a:lnTo>
                    <a:pt x="2553689" y="0"/>
                  </a:lnTo>
                  <a:cubicBezTo>
                    <a:pt x="2569444" y="0"/>
                    <a:pt x="2582216" y="12772"/>
                    <a:pt x="2582216" y="28527"/>
                  </a:cubicBezTo>
                  <a:lnTo>
                    <a:pt x="2582216" y="425330"/>
                  </a:lnTo>
                  <a:cubicBezTo>
                    <a:pt x="2582216" y="441085"/>
                    <a:pt x="2569444" y="453857"/>
                    <a:pt x="2553689" y="453857"/>
                  </a:cubicBezTo>
                  <a:lnTo>
                    <a:pt x="28527" y="453857"/>
                  </a:lnTo>
                  <a:cubicBezTo>
                    <a:pt x="12772" y="453857"/>
                    <a:pt x="0" y="441085"/>
                    <a:pt x="0" y="425330"/>
                  </a:cubicBezTo>
                  <a:lnTo>
                    <a:pt x="0" y="28527"/>
                  </a:lnTo>
                  <a:cubicBezTo>
                    <a:pt x="0" y="12772"/>
                    <a:pt x="12772" y="0"/>
                    <a:pt x="28527" y="0"/>
                  </a:cubicBezTo>
                  <a:close/>
                </a:path>
              </a:pathLst>
            </a:custGeom>
            <a:gradFill rotWithShape="1">
              <a:gsLst>
                <a:gs pos="0">
                  <a:srgbClr val="7A3E12">
                    <a:alpha val="100000"/>
                  </a:srgbClr>
                </a:gs>
                <a:gs pos="100000">
                  <a:srgbClr val="2F1B11">
                    <a:alpha val="100000"/>
                  </a:srgbClr>
                </a:gs>
              </a:gsLst>
              <a:lin ang="2700000"/>
            </a:gradFill>
          </p:spPr>
          <p:txBody>
            <a:bodyPr/>
            <a:lstStyle/>
            <a:p>
              <a:endParaRPr lang="ar-OM"/>
            </a:p>
          </p:txBody>
        </p:sp>
        <p:sp>
          <p:nvSpPr>
            <p:cNvPr id="18" name="TextBox 52">
              <a:extLst>
                <a:ext uri="{FF2B5EF4-FFF2-40B4-BE49-F238E27FC236}">
                  <a16:creationId xmlns:a16="http://schemas.microsoft.com/office/drawing/2014/main" id="{F674BBA2-8A2F-1068-695F-A95FD2639433}"/>
                </a:ext>
              </a:extLst>
            </p:cNvPr>
            <p:cNvSpPr txBox="1"/>
            <p:nvPr/>
          </p:nvSpPr>
          <p:spPr>
            <a:xfrm>
              <a:off x="0" y="-85725"/>
              <a:ext cx="2582216" cy="539582"/>
            </a:xfrm>
            <a:prstGeom prst="rect">
              <a:avLst/>
            </a:prstGeom>
          </p:spPr>
          <p:txBody>
            <a:bodyPr lIns="50800" tIns="50800" rIns="50800" bIns="50800" rtlCol="0" anchor="ctr"/>
            <a:lstStyle/>
            <a:p>
              <a:pPr algn="ctr">
                <a:lnSpc>
                  <a:spcPts val="3161"/>
                </a:lnSpc>
              </a:pPr>
              <a:endParaRPr/>
            </a:p>
          </p:txBody>
        </p:sp>
      </p:grpSp>
      <p:sp>
        <p:nvSpPr>
          <p:cNvPr id="13" name="TextBox 13"/>
          <p:cNvSpPr txBox="1"/>
          <p:nvPr/>
        </p:nvSpPr>
        <p:spPr>
          <a:xfrm>
            <a:off x="9668967" y="4749479"/>
            <a:ext cx="7590333" cy="3560532"/>
          </a:xfrm>
          <a:prstGeom prst="rect">
            <a:avLst/>
          </a:prstGeom>
        </p:spPr>
        <p:txBody>
          <a:bodyPr lIns="0" tIns="0" rIns="0" bIns="0" rtlCol="0" anchor="t">
            <a:spAutoFit/>
          </a:bodyPr>
          <a:lstStyle/>
          <a:p>
            <a:pPr algn="r" rtl="1">
              <a:lnSpc>
                <a:spcPts val="4039"/>
              </a:lnSpc>
            </a:pPr>
            <a:r>
              <a:rPr lang="ar-EG" sz="2729" b="1" dirty="0">
                <a:solidFill>
                  <a:srgbClr val="FFFFFF"/>
                </a:solidFill>
                <a:latin typeface="GE SS Two Medium"/>
                <a:ea typeface="GE SS Two Medium"/>
                <a:cs typeface="GE SS Two Medium"/>
                <a:sym typeface="GE SS Two Medium"/>
                <a:rtl/>
              </a:rPr>
              <a:t>تُمثّل شجرة اللبان واحدة من أهم الثروات الطبيعية التي تميّز محافظة ظفار، فهي شجرة تجمع بين الخصائص البيئية الفريدة والقيمة الثقافية والاقتصادية. وعلى الرغم من شهرتها الواسعة، فإن جوانب عديدة من أسرارها وطرق الاستفادة منها والمحافظة عليها ما زالت تستحق المزيد من البحث والدراسة.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7A3E12">
                <a:alpha val="100000"/>
              </a:srgbClr>
            </a:gs>
            <a:gs pos="100000">
              <a:srgbClr val="2F1B11">
                <a:alpha val="100000"/>
              </a:srgbClr>
            </a:gs>
          </a:gsLst>
          <a:lin ang="2700000"/>
        </a:gradFill>
        <a:effectLst/>
      </p:bgPr>
    </p:bg>
    <p:spTree>
      <p:nvGrpSpPr>
        <p:cNvPr id="1" name=""/>
        <p:cNvGrpSpPr/>
        <p:nvPr/>
      </p:nvGrpSpPr>
      <p:grpSpPr>
        <a:xfrm>
          <a:off x="0" y="0"/>
          <a:ext cx="0" cy="0"/>
          <a:chOff x="0" y="0"/>
          <a:chExt cx="0" cy="0"/>
        </a:xfrm>
      </p:grpSpPr>
      <p:sp>
        <p:nvSpPr>
          <p:cNvPr id="10" name="Freeform 2">
            <a:extLst>
              <a:ext uri="{FF2B5EF4-FFF2-40B4-BE49-F238E27FC236}">
                <a16:creationId xmlns:a16="http://schemas.microsoft.com/office/drawing/2014/main" id="{51F07FD2-DCDC-3FCF-3BEF-B2246E0E146F}"/>
              </a:ext>
            </a:extLst>
          </p:cNvPr>
          <p:cNvSpPr/>
          <p:nvPr/>
        </p:nvSpPr>
        <p:spPr>
          <a:xfrm>
            <a:off x="-1203609" y="-1362620"/>
            <a:ext cx="21778367" cy="13521929"/>
          </a:xfrm>
          <a:custGeom>
            <a:avLst/>
            <a:gdLst/>
            <a:ahLst/>
            <a:cxnLst/>
            <a:rect l="l" t="t" r="r" b="b"/>
            <a:pathLst>
              <a:path w="18817162" h="10539755">
                <a:moveTo>
                  <a:pt x="0" y="0"/>
                </a:moveTo>
                <a:lnTo>
                  <a:pt x="18817162" y="0"/>
                </a:lnTo>
                <a:lnTo>
                  <a:pt x="18817162" y="10539755"/>
                </a:lnTo>
                <a:lnTo>
                  <a:pt x="0" y="10539755"/>
                </a:lnTo>
                <a:lnTo>
                  <a:pt x="0" y="0"/>
                </a:lnTo>
                <a:close/>
              </a:path>
            </a:pathLst>
          </a:custGeom>
          <a:blipFill>
            <a:blip r:embed="rId2">
              <a:alphaModFix amt="42000"/>
            </a:blip>
            <a:stretch>
              <a:fillRect l="-7417" r="-4605"/>
            </a:stretch>
          </a:blipFill>
        </p:spPr>
        <p:txBody>
          <a:bodyPr/>
          <a:lstStyle/>
          <a:p>
            <a:endParaRPr lang="ar-OM"/>
          </a:p>
        </p:txBody>
      </p:sp>
      <p:sp>
        <p:nvSpPr>
          <p:cNvPr id="2" name="Freeform 2"/>
          <p:cNvSpPr/>
          <p:nvPr/>
        </p:nvSpPr>
        <p:spPr>
          <a:xfrm>
            <a:off x="2735038" y="-1265462"/>
            <a:ext cx="12817925" cy="12817925"/>
          </a:xfrm>
          <a:custGeom>
            <a:avLst/>
            <a:gdLst/>
            <a:ahLst/>
            <a:cxnLst/>
            <a:rect l="l" t="t" r="r" b="b"/>
            <a:pathLst>
              <a:path w="12817925" h="12817925">
                <a:moveTo>
                  <a:pt x="0" y="0"/>
                </a:moveTo>
                <a:lnTo>
                  <a:pt x="12817924" y="0"/>
                </a:lnTo>
                <a:lnTo>
                  <a:pt x="12817924" y="12817924"/>
                </a:lnTo>
                <a:lnTo>
                  <a:pt x="0" y="1281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OM"/>
          </a:p>
        </p:txBody>
      </p:sp>
      <p:sp>
        <p:nvSpPr>
          <p:cNvPr id="3" name="Freeform 3"/>
          <p:cNvSpPr/>
          <p:nvPr/>
        </p:nvSpPr>
        <p:spPr>
          <a:xfrm>
            <a:off x="4791650" y="791150"/>
            <a:ext cx="8704699" cy="8704699"/>
          </a:xfrm>
          <a:custGeom>
            <a:avLst/>
            <a:gdLst/>
            <a:ahLst/>
            <a:cxnLst/>
            <a:rect l="l" t="t" r="r" b="b"/>
            <a:pathLst>
              <a:path w="8704699" h="8704699">
                <a:moveTo>
                  <a:pt x="0" y="0"/>
                </a:moveTo>
                <a:lnTo>
                  <a:pt x="8704700" y="0"/>
                </a:lnTo>
                <a:lnTo>
                  <a:pt x="8704700" y="8704700"/>
                </a:lnTo>
                <a:lnTo>
                  <a:pt x="0" y="87047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OM"/>
          </a:p>
        </p:txBody>
      </p:sp>
      <p:sp>
        <p:nvSpPr>
          <p:cNvPr id="4" name="Freeform 4"/>
          <p:cNvSpPr/>
          <p:nvPr/>
        </p:nvSpPr>
        <p:spPr>
          <a:xfrm>
            <a:off x="-3033234" y="-3023256"/>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txBody>
          <a:bodyPr/>
          <a:lstStyle/>
          <a:p>
            <a:endParaRPr lang="ar-OM"/>
          </a:p>
        </p:txBody>
      </p:sp>
      <p:sp>
        <p:nvSpPr>
          <p:cNvPr id="5" name="Freeform 5"/>
          <p:cNvSpPr/>
          <p:nvPr/>
        </p:nvSpPr>
        <p:spPr>
          <a:xfrm>
            <a:off x="-5538778" y="5915050"/>
            <a:ext cx="10551506" cy="10551506"/>
          </a:xfrm>
          <a:custGeom>
            <a:avLst/>
            <a:gdLst/>
            <a:ahLst/>
            <a:cxnLst/>
            <a:rect l="l" t="t" r="r" b="b"/>
            <a:pathLst>
              <a:path w="10551506" h="10551506">
                <a:moveTo>
                  <a:pt x="0" y="0"/>
                </a:moveTo>
                <a:lnTo>
                  <a:pt x="10551506" y="0"/>
                </a:lnTo>
                <a:lnTo>
                  <a:pt x="10551506" y="10551506"/>
                </a:lnTo>
                <a:lnTo>
                  <a:pt x="0" y="105515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OM"/>
          </a:p>
        </p:txBody>
      </p:sp>
      <p:sp>
        <p:nvSpPr>
          <p:cNvPr id="6" name="Freeform 6"/>
          <p:cNvSpPr/>
          <p:nvPr/>
        </p:nvSpPr>
        <p:spPr>
          <a:xfrm>
            <a:off x="13684656" y="-4177644"/>
            <a:ext cx="8355287" cy="8355287"/>
          </a:xfrm>
          <a:custGeom>
            <a:avLst/>
            <a:gdLst/>
            <a:ahLst/>
            <a:cxnLst/>
            <a:rect l="l" t="t" r="r" b="b"/>
            <a:pathLst>
              <a:path w="8355287" h="8355287">
                <a:moveTo>
                  <a:pt x="0" y="0"/>
                </a:moveTo>
                <a:lnTo>
                  <a:pt x="8355287" y="0"/>
                </a:lnTo>
                <a:lnTo>
                  <a:pt x="8355287" y="8355288"/>
                </a:lnTo>
                <a:lnTo>
                  <a:pt x="0" y="8355288"/>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txBody>
          <a:bodyPr/>
          <a:lstStyle/>
          <a:p>
            <a:endParaRPr lang="ar-OM"/>
          </a:p>
        </p:txBody>
      </p:sp>
      <p:sp>
        <p:nvSpPr>
          <p:cNvPr id="7" name="Freeform 7"/>
          <p:cNvSpPr/>
          <p:nvPr/>
        </p:nvSpPr>
        <p:spPr>
          <a:xfrm>
            <a:off x="14378084" y="6267047"/>
            <a:ext cx="7200900" cy="7200900"/>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p:spPr>
        <p:txBody>
          <a:bodyPr/>
          <a:lstStyle/>
          <a:p>
            <a:endParaRPr lang="ar-OM"/>
          </a:p>
        </p:txBody>
      </p:sp>
      <p:sp>
        <p:nvSpPr>
          <p:cNvPr id="8" name="TextBox 8"/>
          <p:cNvSpPr txBox="1"/>
          <p:nvPr/>
        </p:nvSpPr>
        <p:spPr>
          <a:xfrm>
            <a:off x="6029437" y="4405333"/>
            <a:ext cx="6229126" cy="1495385"/>
          </a:xfrm>
          <a:prstGeom prst="rect">
            <a:avLst/>
          </a:prstGeom>
        </p:spPr>
        <p:txBody>
          <a:bodyPr lIns="0" tIns="0" rIns="0" bIns="0" rtlCol="0" anchor="t">
            <a:spAutoFit/>
          </a:bodyPr>
          <a:lstStyle/>
          <a:p>
            <a:pPr algn="ctr" rtl="1">
              <a:lnSpc>
                <a:spcPts val="9953"/>
              </a:lnSpc>
            </a:pPr>
            <a:r>
              <a:rPr lang="ar-EG" sz="9953" b="1">
                <a:solidFill>
                  <a:srgbClr val="FFFFFF"/>
                </a:solidFill>
                <a:latin typeface="GE SS Two Medium"/>
                <a:ea typeface="GE SS Two Medium"/>
                <a:cs typeface="GE SS Two Medium"/>
                <a:sym typeface="GE SS Two Medium"/>
                <a:rtl/>
              </a:rPr>
              <a:t>شكراً لكم</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719</Words>
  <Application>Microsoft Office PowerPoint</Application>
  <PresentationFormat>Custom</PresentationFormat>
  <Paragraphs>76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AktivGrotesk-XBold</vt:lpstr>
      <vt:lpstr>GE SS Two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شجرة اللبان العُمانية</dc:title>
  <cp:lastModifiedBy>Hawraa Salim Nasib</cp:lastModifiedBy>
  <cp:revision>2</cp:revision>
  <dcterms:created xsi:type="dcterms:W3CDTF">2006-08-16T00:00:00Z</dcterms:created>
  <dcterms:modified xsi:type="dcterms:W3CDTF">2026-10-16T13:24:23Z</dcterms:modified>
  <dc:identifier>DAHYLP_8noU</dc:identifier>
</cp:coreProperties>
</file>